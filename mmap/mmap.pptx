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</p:sldIdLst>
  <p:sldSz cy="5143500" cx="9144000"/>
  <p:notesSz cx="6858000" cy="9144000"/>
  <p:embeddedFontLst>
    <p:embeddedFont>
      <p:font typeface="Roboto"/>
      <p:regular r:id="rId67"/>
      <p:bold r:id="rId68"/>
      <p:italic r:id="rId69"/>
      <p:boldItalic r:id="rId70"/>
    </p:embeddedFont>
    <p:embeddedFont>
      <p:font typeface="Montserrat"/>
      <p:regular r:id="rId71"/>
      <p:bold r:id="rId72"/>
      <p:italic r:id="rId73"/>
      <p:boldItalic r:id="rId74"/>
    </p:embeddedFont>
    <p:embeddedFont>
      <p:font typeface="Lato"/>
      <p:regular r:id="rId75"/>
      <p:bold r:id="rId76"/>
      <p:italic r:id="rId77"/>
      <p:boldItalic r:id="rId7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Montserrat-italic.fntdata"/><Relationship Id="rId72" Type="http://schemas.openxmlformats.org/officeDocument/2006/relationships/font" Target="fonts/Montserrat-bold.fntdata"/><Relationship Id="rId31" Type="http://schemas.openxmlformats.org/officeDocument/2006/relationships/slide" Target="slides/slide26.xml"/><Relationship Id="rId75" Type="http://schemas.openxmlformats.org/officeDocument/2006/relationships/font" Target="fonts/Lato-regular.fntdata"/><Relationship Id="rId30" Type="http://schemas.openxmlformats.org/officeDocument/2006/relationships/slide" Target="slides/slide25.xml"/><Relationship Id="rId74" Type="http://schemas.openxmlformats.org/officeDocument/2006/relationships/font" Target="fonts/Montserrat-boldItalic.fntdata"/><Relationship Id="rId33" Type="http://schemas.openxmlformats.org/officeDocument/2006/relationships/slide" Target="slides/slide28.xml"/><Relationship Id="rId77" Type="http://schemas.openxmlformats.org/officeDocument/2006/relationships/font" Target="fonts/Lato-italic.fntdata"/><Relationship Id="rId32" Type="http://schemas.openxmlformats.org/officeDocument/2006/relationships/slide" Target="slides/slide27.xml"/><Relationship Id="rId76" Type="http://schemas.openxmlformats.org/officeDocument/2006/relationships/font" Target="fonts/Lato-bold.fntdata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8" Type="http://schemas.openxmlformats.org/officeDocument/2006/relationships/font" Target="fonts/Lato-boldItalic.fntdata"/><Relationship Id="rId71" Type="http://schemas.openxmlformats.org/officeDocument/2006/relationships/font" Target="fonts/Montserrat-regular.fntdata"/><Relationship Id="rId70" Type="http://schemas.openxmlformats.org/officeDocument/2006/relationships/font" Target="fonts/Roboto-boldItalic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font" Target="fonts/Roboto-bold.fntdata"/><Relationship Id="rId23" Type="http://schemas.openxmlformats.org/officeDocument/2006/relationships/slide" Target="slides/slide18.xml"/><Relationship Id="rId67" Type="http://schemas.openxmlformats.org/officeDocument/2006/relationships/font" Target="fonts/Roboto-regular.fntdata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Roboto-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30214f753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730214f753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730214f753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730214f753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730214f753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730214f753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730214f753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730214f753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30214f753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730214f753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730214f753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730214f753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730214f753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730214f753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730214f753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730214f753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730214f753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730214f753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730214f753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730214f753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730214f753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730214f753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730214f753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730214f753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730214f753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730214f753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730214f753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730214f753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30214f753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730214f753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730214f753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730214f753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730214f753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730214f753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730214f753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730214f753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730214f753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730214f753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730214f753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730214f753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730214f753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730214f753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730214f753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730214f753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730214f753_0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730214f753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730214f753_0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730214f753_0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730214f753_0_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730214f753_0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730214f753_0_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730214f753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730214f753_0_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730214f753_0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730214f753_0_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730214f753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730214f753_0_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730214f753_0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730214f753_0_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730214f753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730214f753_0_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730214f753_0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730214f753_0_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730214f753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730214f753_0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730214f753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730214f753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730214f753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730214f753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730214f753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730214f753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730214f753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730214f753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730214f753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730214f753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730214f753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730214f753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730214f753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730214f753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730214f753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730214f753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730214f753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730214f753_1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730214f753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730214f753_1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730214f753_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730214f753_1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730214f753_1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730214f753_1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730214f753_1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730214f753_1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730214f753_1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730214f753_1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730214f753_1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730214f753_1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730214f753_1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730214f753_1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730214f753_1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730214f753_1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730214f753_1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730214f753_1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730214f753_1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730214f753_1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730214f753_1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730214f753_1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730214f753_1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730214f753_1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730214f753_1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730214f753_1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730214f753_1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730214f753_1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3730214f753_1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730214f753_1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3730214f753_1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730214f753_1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730214f753_1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730214f753_1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3730214f753_1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730214f753_1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3730214f753_1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eax.me/linux-file-mapping/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Отображение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памяти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Введение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Отображение памяти (memory mapping) — это метод связывания содержимого файла или устройства с областью виртуальной памяти процесса. В Linux основным средством для этого является системный вызов mmap. Его применение позволяет обращаться к файлам и устройствам как к массивам в памяти, что кардинально ускоряет ввод-вывод и упрощает работу с большими файлами.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Преимущества отображения памяти</a:t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Отказ от лишних копирований между ядром и пользователем.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Прозрачный доступ к файлам через указатели.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Возможность совместного использования памяти между процессами.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Оптимизация работы с данными (ленивое чтение, кэширование, синхронизация).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Преимущества отображения памяти</a:t>
            </a:r>
            <a:endParaRPr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Отказ от лишних копирований между ядром и пользователем.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Прозрачный доступ к файлам через указатели.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Возможность совместного использования памяти между процессами.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Оптимизация работы с данными (ленивое чтение, кэширование, синхронизация).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Системный вызов mmap и его параметры</a:t>
            </a:r>
            <a:endParaRPr/>
          </a:p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1297500" y="289557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addr — желаемый адрес в памяти (обычно NULL — ОС выбирает сама).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length — размер отображаемой области (в байтах).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prot — права доступа: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PROT_READ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PROT_WRITE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PROT_EXEC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flags — режим отображения: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MAP_SHARED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— изменения в памяти попадут в файл и видны другим процессам.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MAP_PRIVATE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— изменения копируются локально, не затрагивая исходный файл.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MAP_ANONYMOUS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— отображение не связано с файлом (анонимная память).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100"/>
              </a:spcBef>
              <a:spcAft>
                <a:spcPts val="60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0" name="Google Shape;16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8375" y="1753475"/>
            <a:ext cx="5244849" cy="102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Системный вызов mmap и его параметры</a:t>
            </a:r>
            <a:endParaRPr/>
          </a:p>
        </p:txBody>
      </p:sp>
      <p:sp>
        <p:nvSpPr>
          <p:cNvPr id="166" name="Google Shape;166;p18"/>
          <p:cNvSpPr txBox="1"/>
          <p:nvPr>
            <p:ph idx="1" type="body"/>
          </p:nvPr>
        </p:nvSpPr>
        <p:spPr>
          <a:xfrm>
            <a:off x="1297500" y="289557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fd — файловый дескриптор файла для отображения (для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MAP_ANONYMOUS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—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-1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).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offset — смещение в файле, с которого начинать отображение (выравнивается по странице).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7" name="Google Shape;16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7025" y="1753475"/>
            <a:ext cx="5244849" cy="102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Пример 0: чтение файла через mmap</a:t>
            </a:r>
            <a:endParaRPr/>
          </a:p>
        </p:txBody>
      </p:sp>
      <p:sp>
        <p:nvSpPr>
          <p:cNvPr id="173" name="Google Shape;173;p19"/>
          <p:cNvSpPr txBox="1"/>
          <p:nvPr>
            <p:ph idx="1" type="body"/>
          </p:nvPr>
        </p:nvSpPr>
        <p:spPr>
          <a:xfrm>
            <a:off x="1297500" y="11913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Подключение заголовочных файлов: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&lt;fcntl.h&gt;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— для функции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open()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и констант (например,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O_RDONLY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).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&lt;sys/mman.h&gt;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— содержит объявление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mmap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munmap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и константы (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PROT_READ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MAP_PRIVATE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).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&lt;sys/stat.h&gt;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— объявляет структуру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stat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и функцию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fstat()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для получения информации о файле.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&lt;unistd.h&gt;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— системные вызовы POSIX, например,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close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write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&lt;stdio.h&gt;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— ввод-вывод,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fprintf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perror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&lt;stdlib.h&gt;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— макросы общий назначения (например,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exit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или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malloc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).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Пример: чтение файла через mmap</a:t>
            </a:r>
            <a:endParaRPr/>
          </a:p>
        </p:txBody>
      </p:sp>
      <p:sp>
        <p:nvSpPr>
          <p:cNvPr id="179" name="Google Shape;179;p20"/>
          <p:cNvSpPr txBox="1"/>
          <p:nvPr>
            <p:ph idx="1" type="body"/>
          </p:nvPr>
        </p:nvSpPr>
        <p:spPr>
          <a:xfrm>
            <a:off x="1297500" y="11913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Функция main и проверка аргументов: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argc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— количество аргументов командной строки.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argv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— массив строк с аргументами.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Мы проверяем, что пользователь передал имя файла в качестве аргумента.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Если аргумент отсутствует, печатаем сообщение об использовании и завершаем программу с кодом ошибки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Пример: чтение файла через mmap</a:t>
            </a:r>
            <a:endParaRPr/>
          </a:p>
        </p:txBody>
      </p:sp>
      <p:sp>
        <p:nvSpPr>
          <p:cNvPr id="185" name="Google Shape;185;p21"/>
          <p:cNvSpPr txBox="1"/>
          <p:nvPr>
            <p:ph idx="1" type="body"/>
          </p:nvPr>
        </p:nvSpPr>
        <p:spPr>
          <a:xfrm>
            <a:off x="1297500" y="11913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Открытие файла на чтение: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open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открывает файл, имя которого в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argv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, только для чтения (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O_RDONLY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).</a:t>
            </a:r>
            <a:r>
              <a:rPr lang="ru" sz="750"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eax</a:t>
            </a:r>
            <a:endParaRPr sz="750"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В случае ошибки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open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возвращает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-1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, мы выводим сообщение об ошибке с помощью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perror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(печатает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open: &lt;описание ошибки&gt;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).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Если ошибка, программа завершается.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Пример: чтение файла через mmap</a:t>
            </a:r>
            <a:endParaRPr/>
          </a:p>
        </p:txBody>
      </p:sp>
      <p:sp>
        <p:nvSpPr>
          <p:cNvPr id="191" name="Google Shape;191;p22"/>
          <p:cNvSpPr txBox="1"/>
          <p:nvPr>
            <p:ph idx="1" type="body"/>
          </p:nvPr>
        </p:nvSpPr>
        <p:spPr>
          <a:xfrm>
            <a:off x="1297500" y="11913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/>
              <a:t>Получение информации о файле с помощью fstat: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fstat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заполняет структуру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stat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информацией о файле, открытом по файловому дескриптору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fd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Мы получаем, среди прочего, размер файла (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st.st_size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).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Если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fstat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возвращает отрицательное значение — произошла ошибка, выводим сообщение, закрываем файл и завершаем программу.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Пример: чтение файла через mmap</a:t>
            </a:r>
            <a:endParaRPr/>
          </a:p>
        </p:txBody>
      </p:sp>
      <p:sp>
        <p:nvSpPr>
          <p:cNvPr id="197" name="Google Shape;197;p23"/>
          <p:cNvSpPr txBox="1"/>
          <p:nvPr>
            <p:ph idx="1" type="body"/>
          </p:nvPr>
        </p:nvSpPr>
        <p:spPr>
          <a:xfrm>
            <a:off x="1297500" y="11913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Определяем размер файла для mmap: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Размер файла в байтах используется для указания длины отображаемой области памяти.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Пример: чтение файла через mmap</a:t>
            </a:r>
            <a:endParaRPr/>
          </a:p>
        </p:txBody>
      </p:sp>
      <p:sp>
        <p:nvSpPr>
          <p:cNvPr id="203" name="Google Shape;203;p24"/>
          <p:cNvSpPr txBox="1"/>
          <p:nvPr>
            <p:ph idx="1" type="body"/>
          </p:nvPr>
        </p:nvSpPr>
        <p:spPr>
          <a:xfrm>
            <a:off x="1297500" y="11913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Вызов mmap для отображения файла в память: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addr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=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— ОС выберет свободный адрес самостоятельно.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length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=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filesize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— отображаем весь файл.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prot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=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PROT_READ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— права только на чтение отображаемой области.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flags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=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MAP_PRIVATE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— изменения в памяти не будут отражены в файл (копия при записи).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fd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— файловый дескриптор открытого файла.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offset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= 0 — начинаем отображение с начала файла.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Пример: чтение файла через mmap</a:t>
            </a:r>
            <a:endParaRPr/>
          </a:p>
        </p:txBody>
      </p:sp>
      <p:sp>
        <p:nvSpPr>
          <p:cNvPr id="209" name="Google Shape;209;p25"/>
          <p:cNvSpPr txBox="1"/>
          <p:nvPr>
            <p:ph idx="1" type="body"/>
          </p:nvPr>
        </p:nvSpPr>
        <p:spPr>
          <a:xfrm>
            <a:off x="1297500" y="11913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Проверка результата mmap: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Если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mmap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вернул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MAP_FAILED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(обычно (void *) -1), значит произошла ошибка – выводим сообщение и завершаем.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Пример: чтение файла через mmap</a:t>
            </a:r>
            <a:endParaRPr/>
          </a:p>
        </p:txBody>
      </p:sp>
      <p:sp>
        <p:nvSpPr>
          <p:cNvPr id="215" name="Google Shape;215;p26"/>
          <p:cNvSpPr txBox="1"/>
          <p:nvPr>
            <p:ph idx="1" type="body"/>
          </p:nvPr>
        </p:nvSpPr>
        <p:spPr>
          <a:xfrm>
            <a:off x="1297500" y="11913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Использование отображенной памяти: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Записываем содержимое отображенной области памяти (файла) в стандартный вывод — здесь напрямую читается память, отображающая файл без явного вызова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read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Эффективно и просто.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Пример: чтение файла через mmap</a:t>
            </a:r>
            <a:endParaRPr/>
          </a:p>
        </p:txBody>
      </p:sp>
      <p:sp>
        <p:nvSpPr>
          <p:cNvPr id="221" name="Google Shape;221;p27"/>
          <p:cNvSpPr txBox="1"/>
          <p:nvPr>
            <p:ph idx="1" type="body"/>
          </p:nvPr>
        </p:nvSpPr>
        <p:spPr>
          <a:xfrm>
            <a:off x="1297500" y="11913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Освобождение ресурсов: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munmap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освобождает ранее отображенную область памяти.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close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закрывает файловый дескриптор.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Итог</a:t>
            </a:r>
            <a:endParaRPr/>
          </a:p>
        </p:txBody>
      </p:sp>
      <p:sp>
        <p:nvSpPr>
          <p:cNvPr id="227" name="Google Shape;227;p28"/>
          <p:cNvSpPr txBox="1"/>
          <p:nvPr>
            <p:ph idx="1" type="body"/>
          </p:nvPr>
        </p:nvSpPr>
        <p:spPr>
          <a:xfrm>
            <a:off x="1297500" y="11913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Программа открывает файл и отображает его содержимое в память.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Затем с помощью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write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выводит всю область в стандартный вывод.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Это демонстрирует, как удобно и эффективно читать файлы с помощью mmap, без использования дополнительного буфера и циклов чтения.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Код краток, легко понимается и показывает сильные стороны mapping-файлов Linux.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Prot</a:t>
            </a:r>
            <a:endParaRPr/>
          </a:p>
        </p:txBody>
      </p:sp>
      <p:sp>
        <p:nvSpPr>
          <p:cNvPr id="233" name="Google Shape;233;p29"/>
          <p:cNvSpPr txBox="1"/>
          <p:nvPr>
            <p:ph idx="1" type="body"/>
          </p:nvPr>
        </p:nvSpPr>
        <p:spPr>
          <a:xfrm>
            <a:off x="1297500" y="11913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prot — 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битовая маска, которая задаёт разрешённые операции с отображённой памятью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375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Roboto"/>
              <a:buChar char="●"/>
            </a:pPr>
            <a:r>
              <a:rPr lang="ru" sz="1290">
                <a:latin typeface="Roboto"/>
                <a:ea typeface="Roboto"/>
                <a:cs typeface="Roboto"/>
                <a:sym typeface="Roboto"/>
              </a:rPr>
              <a:t>PROT_NONE</a:t>
            </a:r>
            <a:br>
              <a:rPr lang="ru" sz="1290">
                <a:latin typeface="Roboto"/>
                <a:ea typeface="Roboto"/>
                <a:cs typeface="Roboto"/>
                <a:sym typeface="Roboto"/>
              </a:rPr>
            </a:br>
            <a:r>
              <a:rPr lang="ru" sz="1290">
                <a:latin typeface="Roboto"/>
                <a:ea typeface="Roboto"/>
                <a:cs typeface="Roboto"/>
                <a:sym typeface="Roboto"/>
              </a:rPr>
              <a:t>— запрет доступа. Процесс не может ни читать, ни писать, ни выполнять код из этой области.</a:t>
            </a:r>
            <a:endParaRPr sz="1290">
              <a:latin typeface="Roboto"/>
              <a:ea typeface="Roboto"/>
              <a:cs typeface="Roboto"/>
              <a:sym typeface="Roboto"/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93018"/>
              <a:buFont typeface="Roboto"/>
              <a:buChar char="●"/>
            </a:pPr>
            <a:r>
              <a:rPr lang="ru" sz="1290">
                <a:latin typeface="Roboto"/>
                <a:ea typeface="Roboto"/>
                <a:cs typeface="Roboto"/>
                <a:sym typeface="Roboto"/>
              </a:rPr>
              <a:t>PROT_READ</a:t>
            </a:r>
            <a:br>
              <a:rPr lang="ru" sz="1290">
                <a:latin typeface="Roboto"/>
                <a:ea typeface="Roboto"/>
                <a:cs typeface="Roboto"/>
                <a:sym typeface="Roboto"/>
              </a:rPr>
            </a:br>
            <a:r>
              <a:rPr lang="ru" sz="1290">
                <a:latin typeface="Roboto"/>
                <a:ea typeface="Roboto"/>
                <a:cs typeface="Roboto"/>
                <a:sym typeface="Roboto"/>
              </a:rPr>
              <a:t>— разрешено чтение из памяти. Без этого флага попытка чтения вызовет ошибку сегментации (</a:t>
            </a:r>
            <a:r>
              <a:rPr lang="ru" sz="1140">
                <a:latin typeface="Courier New"/>
                <a:ea typeface="Courier New"/>
                <a:cs typeface="Courier New"/>
                <a:sym typeface="Courier New"/>
              </a:rPr>
              <a:t>SIGSEGV</a:t>
            </a:r>
            <a:r>
              <a:rPr lang="ru" sz="1290">
                <a:latin typeface="Roboto"/>
                <a:ea typeface="Roboto"/>
                <a:cs typeface="Roboto"/>
                <a:sym typeface="Roboto"/>
              </a:rPr>
              <a:t>).</a:t>
            </a:r>
            <a:endParaRPr sz="1290">
              <a:latin typeface="Roboto"/>
              <a:ea typeface="Roboto"/>
              <a:cs typeface="Roboto"/>
              <a:sym typeface="Roboto"/>
            </a:endParaRPr>
          </a:p>
          <a:p>
            <a:pPr indent="-30437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Roboto"/>
              <a:buChar char="●"/>
            </a:pPr>
            <a:r>
              <a:rPr lang="ru" sz="1290">
                <a:latin typeface="Roboto"/>
                <a:ea typeface="Roboto"/>
                <a:cs typeface="Roboto"/>
                <a:sym typeface="Roboto"/>
              </a:rPr>
              <a:t>PROT_WRITE</a:t>
            </a:r>
            <a:br>
              <a:rPr lang="ru" sz="1290">
                <a:latin typeface="Roboto"/>
                <a:ea typeface="Roboto"/>
                <a:cs typeface="Roboto"/>
                <a:sym typeface="Roboto"/>
              </a:rPr>
            </a:br>
            <a:r>
              <a:rPr lang="ru" sz="1290">
                <a:latin typeface="Roboto"/>
                <a:ea typeface="Roboto"/>
                <a:cs typeface="Roboto"/>
                <a:sym typeface="Roboto"/>
              </a:rPr>
              <a:t>— разрешена запись в память. Если флаг отсутствует, попытка записи вызовет ошибку.</a:t>
            </a:r>
            <a:endParaRPr sz="1290">
              <a:latin typeface="Roboto"/>
              <a:ea typeface="Roboto"/>
              <a:cs typeface="Roboto"/>
              <a:sym typeface="Roboto"/>
            </a:endParaRPr>
          </a:p>
          <a:p>
            <a:pPr indent="-30437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Roboto"/>
              <a:buChar char="●"/>
            </a:pPr>
            <a:r>
              <a:rPr lang="ru" sz="1290">
                <a:latin typeface="Roboto"/>
                <a:ea typeface="Roboto"/>
                <a:cs typeface="Roboto"/>
                <a:sym typeface="Roboto"/>
              </a:rPr>
              <a:t>PROT_EXEC</a:t>
            </a:r>
            <a:br>
              <a:rPr lang="ru" sz="1290">
                <a:latin typeface="Roboto"/>
                <a:ea typeface="Roboto"/>
                <a:cs typeface="Roboto"/>
                <a:sym typeface="Roboto"/>
              </a:rPr>
            </a:br>
            <a:r>
              <a:rPr lang="ru" sz="1290">
                <a:latin typeface="Roboto"/>
                <a:ea typeface="Roboto"/>
                <a:cs typeface="Roboto"/>
                <a:sym typeface="Roboto"/>
              </a:rPr>
              <a:t>— разрешается исполнения кода из этой области памяти (важно для загрузки исполняемых или JIT-кода).</a:t>
            </a:r>
            <a:endParaRPr sz="1290">
              <a:latin typeface="Roboto"/>
              <a:ea typeface="Roboto"/>
              <a:cs typeface="Roboto"/>
              <a:sym typeface="Roboto"/>
            </a:endParaRPr>
          </a:p>
          <a:p>
            <a:pPr indent="-30437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Roboto"/>
              <a:buChar char="●"/>
            </a:pPr>
            <a:r>
              <a:rPr lang="ru" sz="1290">
                <a:latin typeface="Roboto"/>
                <a:ea typeface="Roboto"/>
                <a:cs typeface="Roboto"/>
                <a:sym typeface="Roboto"/>
              </a:rPr>
              <a:t>PROT_SEM (редко используется, начиная с Linux 2.5.7)</a:t>
            </a:r>
            <a:br>
              <a:rPr lang="ru" sz="1290">
                <a:latin typeface="Roboto"/>
                <a:ea typeface="Roboto"/>
                <a:cs typeface="Roboto"/>
                <a:sym typeface="Roboto"/>
              </a:rPr>
            </a:br>
            <a:r>
              <a:rPr lang="ru" sz="1290">
                <a:latin typeface="Roboto"/>
                <a:ea typeface="Roboto"/>
                <a:cs typeface="Roboto"/>
                <a:sym typeface="Roboto"/>
              </a:rPr>
              <a:t>— используется для поддержки атомарных операций в семафорах.</a:t>
            </a:r>
            <a:endParaRPr sz="129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Prot</a:t>
            </a:r>
            <a:endParaRPr/>
          </a:p>
        </p:txBody>
      </p:sp>
      <p:sp>
        <p:nvSpPr>
          <p:cNvPr id="239" name="Google Shape;239;p30"/>
          <p:cNvSpPr txBox="1"/>
          <p:nvPr>
            <p:ph idx="1" type="body"/>
          </p:nvPr>
        </p:nvSpPr>
        <p:spPr>
          <a:xfrm>
            <a:off x="1297500" y="11913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 lnSpcReduction="20000"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3360">
                <a:latin typeface="Roboto"/>
                <a:ea typeface="Roboto"/>
                <a:cs typeface="Roboto"/>
                <a:sym typeface="Roboto"/>
              </a:rPr>
              <a:t>Права можно комбинировать по битам, например </a:t>
            </a:r>
            <a:r>
              <a:rPr lang="ru" sz="3110">
                <a:latin typeface="Courier New"/>
                <a:ea typeface="Courier New"/>
                <a:cs typeface="Courier New"/>
                <a:sym typeface="Courier New"/>
              </a:rPr>
              <a:t>PROT_READ | PROT_WRITE</a:t>
            </a:r>
            <a:r>
              <a:rPr lang="ru" sz="3360">
                <a:latin typeface="Roboto"/>
                <a:ea typeface="Roboto"/>
                <a:cs typeface="Roboto"/>
                <a:sym typeface="Roboto"/>
              </a:rPr>
              <a:t> означает, что область памяти доступна и для чтения, и для записи.</a:t>
            </a:r>
            <a:endParaRPr sz="336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ru" sz="3660">
                <a:latin typeface="Courier New"/>
                <a:ea typeface="Courier New"/>
                <a:cs typeface="Courier New"/>
                <a:sym typeface="Courier New"/>
              </a:rPr>
              <a:t>PROT_READ | PROT_WRITE</a:t>
            </a:r>
            <a:endParaRPr sz="3660">
              <a:latin typeface="Courier New"/>
              <a:ea typeface="Courier New"/>
              <a:cs typeface="Courier New"/>
              <a:sym typeface="Courier New"/>
            </a:endParaRPr>
          </a:p>
          <a:p>
            <a:pPr indent="-297942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Roboto"/>
              <a:buChar char="●"/>
            </a:pPr>
            <a:r>
              <a:rPr lang="ru" sz="3360">
                <a:latin typeface="Roboto"/>
                <a:ea typeface="Roboto"/>
                <a:cs typeface="Roboto"/>
                <a:sym typeface="Roboto"/>
              </a:rPr>
              <a:t>Память доступна для чтения и записи.</a:t>
            </a:r>
            <a:endParaRPr sz="3360">
              <a:latin typeface="Roboto"/>
              <a:ea typeface="Roboto"/>
              <a:cs typeface="Roboto"/>
              <a:sym typeface="Roboto"/>
            </a:endParaRPr>
          </a:p>
          <a:p>
            <a:pPr indent="-25336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35713"/>
              <a:buFont typeface="Roboto"/>
              <a:buChar char="●"/>
            </a:pPr>
            <a:r>
              <a:rPr lang="ru" sz="3360">
                <a:latin typeface="Roboto"/>
                <a:ea typeface="Roboto"/>
                <a:cs typeface="Roboto"/>
                <a:sym typeface="Roboto"/>
              </a:rPr>
              <a:t>Записи изменяют память, в зависимости от флагов </a:t>
            </a:r>
            <a:r>
              <a:rPr lang="ru" sz="3210">
                <a:latin typeface="Courier New"/>
                <a:ea typeface="Courier New"/>
                <a:cs typeface="Courier New"/>
                <a:sym typeface="Courier New"/>
              </a:rPr>
              <a:t>MAP_SHARED</a:t>
            </a:r>
            <a:r>
              <a:rPr lang="ru" sz="3360">
                <a:latin typeface="Roboto"/>
                <a:ea typeface="Roboto"/>
                <a:cs typeface="Roboto"/>
                <a:sym typeface="Roboto"/>
              </a:rPr>
              <a:t> или </a:t>
            </a:r>
            <a:r>
              <a:rPr lang="ru" sz="3210">
                <a:latin typeface="Courier New"/>
                <a:ea typeface="Courier New"/>
                <a:cs typeface="Courier New"/>
                <a:sym typeface="Courier New"/>
              </a:rPr>
              <a:t>MAP_PRIVATE</a:t>
            </a:r>
            <a:r>
              <a:rPr lang="ru" sz="3360">
                <a:latin typeface="Roboto"/>
                <a:ea typeface="Roboto"/>
                <a:cs typeface="Roboto"/>
                <a:sym typeface="Roboto"/>
              </a:rPr>
              <a:t> они могут отражаться в файле или оставаться локальными.</a:t>
            </a:r>
            <a:endParaRPr sz="3360">
              <a:latin typeface="Roboto"/>
              <a:ea typeface="Roboto"/>
              <a:cs typeface="Roboto"/>
              <a:sym typeface="Roboto"/>
            </a:endParaRPr>
          </a:p>
          <a:p>
            <a:pPr indent="-297942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Roboto"/>
              <a:buChar char="●"/>
            </a:pPr>
            <a:r>
              <a:rPr lang="ru" sz="3360">
                <a:latin typeface="Roboto"/>
                <a:ea typeface="Roboto"/>
                <a:cs typeface="Roboto"/>
                <a:sym typeface="Roboto"/>
              </a:rPr>
              <a:t>Часто используется для отображения файла с возможностью его модификации.</a:t>
            </a:r>
            <a:endParaRPr sz="336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ru" sz="3660">
                <a:latin typeface="Courier New"/>
                <a:ea typeface="Courier New"/>
                <a:cs typeface="Courier New"/>
                <a:sym typeface="Courier New"/>
              </a:rPr>
              <a:t>PROT_READ | PROT_EXEC</a:t>
            </a:r>
            <a:endParaRPr sz="3660">
              <a:latin typeface="Courier New"/>
              <a:ea typeface="Courier New"/>
              <a:cs typeface="Courier New"/>
              <a:sym typeface="Courier New"/>
            </a:endParaRPr>
          </a:p>
          <a:p>
            <a:pPr indent="-297942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Roboto"/>
              <a:buChar char="●"/>
            </a:pPr>
            <a:r>
              <a:rPr lang="ru" sz="3360">
                <a:latin typeface="Roboto"/>
                <a:ea typeface="Roboto"/>
                <a:cs typeface="Roboto"/>
                <a:sym typeface="Roboto"/>
              </a:rPr>
              <a:t>Память доступна для чтения и исполнения кода.</a:t>
            </a:r>
            <a:endParaRPr sz="3360">
              <a:latin typeface="Roboto"/>
              <a:ea typeface="Roboto"/>
              <a:cs typeface="Roboto"/>
              <a:sym typeface="Roboto"/>
            </a:endParaRPr>
          </a:p>
          <a:p>
            <a:pPr indent="-297942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Roboto"/>
              <a:buChar char="●"/>
            </a:pPr>
            <a:r>
              <a:rPr lang="ru" sz="3360">
                <a:latin typeface="Roboto"/>
                <a:ea typeface="Roboto"/>
                <a:cs typeface="Roboto"/>
                <a:sym typeface="Roboto"/>
              </a:rPr>
              <a:t>Используется, когда нужно отобразить исполняемый код из файла (например, раздел с кодом программы или JIT-компиляция).</a:t>
            </a:r>
            <a:endParaRPr sz="3360">
              <a:latin typeface="Roboto"/>
              <a:ea typeface="Roboto"/>
              <a:cs typeface="Roboto"/>
              <a:sym typeface="Roboto"/>
            </a:endParaRPr>
          </a:p>
          <a:p>
            <a:pPr indent="-297942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Roboto"/>
              <a:buChar char="●"/>
            </a:pPr>
            <a:r>
              <a:rPr lang="ru" sz="3360">
                <a:latin typeface="Roboto"/>
                <a:ea typeface="Roboto"/>
                <a:cs typeface="Roboto"/>
                <a:sym typeface="Roboto"/>
              </a:rPr>
              <a:t>Запись в такую память запрещена.</a:t>
            </a:r>
            <a:endParaRPr sz="32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Prot</a:t>
            </a:r>
            <a:endParaRPr/>
          </a:p>
        </p:txBody>
      </p:sp>
      <p:sp>
        <p:nvSpPr>
          <p:cNvPr id="245" name="Google Shape;245;p31"/>
          <p:cNvSpPr txBox="1"/>
          <p:nvPr>
            <p:ph idx="1" type="body"/>
          </p:nvPr>
        </p:nvSpPr>
        <p:spPr>
          <a:xfrm>
            <a:off x="1297500" y="11913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PROT_READ | PROT_WRITE | PROT_EXEC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Roboto"/>
              <a:buChar char="●"/>
            </a:pPr>
            <a:r>
              <a:rPr lang="ru" sz="1050">
                <a:latin typeface="Roboto"/>
                <a:ea typeface="Roboto"/>
                <a:cs typeface="Roboto"/>
                <a:sym typeface="Roboto"/>
              </a:rPr>
              <a:t>Память доступна для чтения, записи и исполнения.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Roboto"/>
              <a:buChar char="●"/>
            </a:pPr>
            <a:r>
              <a:rPr lang="ru" sz="1050">
                <a:latin typeface="Roboto"/>
                <a:ea typeface="Roboto"/>
                <a:cs typeface="Roboto"/>
                <a:sym typeface="Roboto"/>
              </a:rPr>
              <a:t>Используется редко, например, для JIT-компиляции, когда нужно создавать и исполнять код на лету.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Roboto"/>
              <a:buChar char="●"/>
            </a:pPr>
            <a:r>
              <a:rPr lang="ru" sz="1050">
                <a:latin typeface="Roboto"/>
                <a:ea typeface="Roboto"/>
                <a:cs typeface="Roboto"/>
                <a:sym typeface="Roboto"/>
              </a:rPr>
              <a:t>Запрет на такое поведение налагается политиками безопасности (например, SELinux, PaX) в некоторых системах.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PROT_NONE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Char char="●"/>
            </a:pPr>
            <a:r>
              <a:rPr lang="ru" sz="1050">
                <a:latin typeface="Arial"/>
                <a:ea typeface="Arial"/>
                <a:cs typeface="Arial"/>
                <a:sym typeface="Arial"/>
              </a:rPr>
              <a:t>Память доступна ни для каких операций — чтение, запись и исполнение запрещены.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Char char="●"/>
            </a:pPr>
            <a:r>
              <a:rPr lang="ru" sz="1050">
                <a:latin typeface="Arial"/>
                <a:ea typeface="Arial"/>
                <a:cs typeface="Arial"/>
                <a:sym typeface="Arial"/>
              </a:rPr>
              <a:t>Используется для резервирования адресного пространства без выделения реальной памяти.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Char char="●"/>
            </a:pPr>
            <a:r>
              <a:rPr lang="ru" sz="1050">
                <a:latin typeface="Arial"/>
                <a:ea typeface="Arial"/>
                <a:cs typeface="Arial"/>
                <a:sym typeface="Arial"/>
              </a:rPr>
              <a:t>Может применяться для реализации «защитных» страниц в стеке.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336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Flags</a:t>
            </a:r>
            <a:endParaRPr/>
          </a:p>
        </p:txBody>
      </p:sp>
      <p:sp>
        <p:nvSpPr>
          <p:cNvPr id="251" name="Google Shape;251;p32"/>
          <p:cNvSpPr txBox="1"/>
          <p:nvPr>
            <p:ph idx="1" type="body"/>
          </p:nvPr>
        </p:nvSpPr>
        <p:spPr>
          <a:xfrm>
            <a:off x="1297500" y="11913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10000"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4025">
                <a:latin typeface="Courier New"/>
                <a:ea typeface="Courier New"/>
                <a:cs typeface="Courier New"/>
                <a:sym typeface="Courier New"/>
              </a:rPr>
              <a:t>flags - </a:t>
            </a:r>
            <a:r>
              <a:rPr lang="ru" sz="4025">
                <a:latin typeface="Roboto"/>
                <a:ea typeface="Roboto"/>
                <a:cs typeface="Roboto"/>
                <a:sym typeface="Roboto"/>
              </a:rPr>
              <a:t>Флаги определяют свойства отображения и влияние изменений.</a:t>
            </a:r>
            <a:endParaRPr sz="4025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3669">
              <a:latin typeface="Roboto"/>
              <a:ea typeface="Roboto"/>
              <a:cs typeface="Roboto"/>
              <a:sym typeface="Roboto"/>
            </a:endParaRPr>
          </a:p>
          <a:p>
            <a:pPr indent="-286854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Roboto"/>
              <a:buChar char="●"/>
            </a:pPr>
            <a:r>
              <a:rPr lang="ru" sz="3669">
                <a:latin typeface="Roboto"/>
                <a:ea typeface="Roboto"/>
                <a:cs typeface="Roboto"/>
                <a:sym typeface="Roboto"/>
              </a:rPr>
              <a:t>MAP_SHARED</a:t>
            </a:r>
            <a:br>
              <a:rPr lang="ru" sz="3669">
                <a:latin typeface="Roboto"/>
                <a:ea typeface="Roboto"/>
                <a:cs typeface="Roboto"/>
                <a:sym typeface="Roboto"/>
              </a:rPr>
            </a:br>
            <a:r>
              <a:rPr lang="ru" sz="3669">
                <a:latin typeface="Roboto"/>
                <a:ea typeface="Roboto"/>
                <a:cs typeface="Roboto"/>
                <a:sym typeface="Roboto"/>
              </a:rPr>
              <a:t>Изменения, сделанные в отображённой памяти, отражаются в исходном файле и видны другим процессам, которые сделали отображение с таким же файлом. Используется для совместного доступа и записи.</a:t>
            </a:r>
            <a:endParaRPr sz="3669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825">
              <a:latin typeface="Roboto"/>
              <a:ea typeface="Roboto"/>
              <a:cs typeface="Roboto"/>
              <a:sym typeface="Roboto"/>
            </a:endParaRPr>
          </a:p>
          <a:p>
            <a:pPr indent="-283077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Roboto"/>
              <a:buChar char="●"/>
            </a:pPr>
            <a:r>
              <a:rPr lang="ru" sz="3431">
                <a:latin typeface="Roboto"/>
                <a:ea typeface="Roboto"/>
                <a:cs typeface="Roboto"/>
                <a:sym typeface="Roboto"/>
              </a:rPr>
              <a:t>MAP_PRIVATE</a:t>
            </a:r>
            <a:br>
              <a:rPr lang="ru" sz="3431">
                <a:latin typeface="Roboto"/>
                <a:ea typeface="Roboto"/>
                <a:cs typeface="Roboto"/>
                <a:sym typeface="Roboto"/>
              </a:rPr>
            </a:br>
            <a:r>
              <a:rPr lang="ru" sz="3431">
                <a:latin typeface="Roboto"/>
                <a:ea typeface="Roboto"/>
                <a:cs typeface="Roboto"/>
                <a:sym typeface="Roboto"/>
              </a:rPr>
              <a:t>Создаётся "копия при записи" (copy-on-write). Изменения в процессе видны локально, но в файл не записываются и другим процессам не передаются.</a:t>
            </a:r>
            <a:endParaRPr sz="343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3036">
              <a:latin typeface="Roboto"/>
              <a:ea typeface="Roboto"/>
              <a:cs typeface="Roboto"/>
              <a:sym typeface="Roboto"/>
            </a:endParaRPr>
          </a:p>
          <a:p>
            <a:pPr indent="-283153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Roboto"/>
              <a:buChar char="●"/>
            </a:pPr>
            <a:r>
              <a:rPr lang="ru" sz="3436">
                <a:latin typeface="Roboto"/>
                <a:ea typeface="Roboto"/>
                <a:cs typeface="Roboto"/>
                <a:sym typeface="Roboto"/>
              </a:rPr>
              <a:t>MAP_ANONYMOUS (или </a:t>
            </a:r>
            <a:r>
              <a:rPr lang="ru" sz="3436">
                <a:latin typeface="Courier New"/>
                <a:ea typeface="Courier New"/>
                <a:cs typeface="Courier New"/>
                <a:sym typeface="Courier New"/>
              </a:rPr>
              <a:t>MAP_ANON</a:t>
            </a:r>
            <a:r>
              <a:rPr lang="ru" sz="3436">
                <a:latin typeface="Roboto"/>
                <a:ea typeface="Roboto"/>
                <a:cs typeface="Roboto"/>
                <a:sym typeface="Roboto"/>
              </a:rPr>
              <a:t>)</a:t>
            </a:r>
            <a:br>
              <a:rPr lang="ru" sz="3436">
                <a:latin typeface="Roboto"/>
                <a:ea typeface="Roboto"/>
                <a:cs typeface="Roboto"/>
                <a:sym typeface="Roboto"/>
              </a:rPr>
            </a:br>
            <a:r>
              <a:rPr lang="ru" sz="3436">
                <a:latin typeface="Roboto"/>
                <a:ea typeface="Roboto"/>
                <a:cs typeface="Roboto"/>
                <a:sym typeface="Roboto"/>
              </a:rPr>
              <a:t>Отображение не связано с файлом и инициализируется нулями. Используется для выделения памяти, например, для разделяемого стека или буфера.</a:t>
            </a:r>
            <a:endParaRPr sz="3436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336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Flags</a:t>
            </a:r>
            <a:endParaRPr/>
          </a:p>
        </p:txBody>
      </p:sp>
      <p:sp>
        <p:nvSpPr>
          <p:cNvPr id="257" name="Google Shape;257;p33"/>
          <p:cNvSpPr txBox="1"/>
          <p:nvPr>
            <p:ph idx="1" type="body"/>
          </p:nvPr>
        </p:nvSpPr>
        <p:spPr>
          <a:xfrm>
            <a:off x="1297500" y="11913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10000"/>
          </a:bodyPr>
          <a:lstStyle/>
          <a:p>
            <a:pPr indent="-286226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Roboto"/>
              <a:buChar char="●"/>
            </a:pPr>
            <a:r>
              <a:rPr lang="ru" sz="1650">
                <a:latin typeface="Roboto"/>
                <a:ea typeface="Roboto"/>
                <a:cs typeface="Roboto"/>
                <a:sym typeface="Roboto"/>
              </a:rPr>
              <a:t>MAP_FIXED</a:t>
            </a:r>
            <a:br>
              <a:rPr lang="ru" sz="1650">
                <a:latin typeface="Roboto"/>
                <a:ea typeface="Roboto"/>
                <a:cs typeface="Roboto"/>
                <a:sym typeface="Roboto"/>
              </a:rPr>
            </a:br>
            <a:r>
              <a:rPr lang="ru" sz="1650">
                <a:latin typeface="Roboto"/>
                <a:ea typeface="Roboto"/>
                <a:cs typeface="Roboto"/>
                <a:sym typeface="Roboto"/>
              </a:rPr>
              <a:t>Попытка отобразить память по строго заданному адресу (параметр </a:t>
            </a:r>
            <a:r>
              <a:rPr lang="ru" sz="1650">
                <a:latin typeface="Courier New"/>
                <a:ea typeface="Courier New"/>
                <a:cs typeface="Courier New"/>
                <a:sym typeface="Courier New"/>
              </a:rPr>
              <a:t>addr</a:t>
            </a:r>
            <a:r>
              <a:rPr lang="ru" sz="1650">
                <a:latin typeface="Roboto"/>
                <a:ea typeface="Roboto"/>
                <a:cs typeface="Roboto"/>
                <a:sym typeface="Roboto"/>
              </a:rPr>
              <a:t>). Может перезаписать уже занятые области памяти, это опасно и требует осторожности.</a:t>
            </a:r>
            <a:endParaRPr sz="165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50">
              <a:latin typeface="Roboto"/>
              <a:ea typeface="Roboto"/>
              <a:cs typeface="Roboto"/>
              <a:sym typeface="Roboto"/>
            </a:endParaRPr>
          </a:p>
          <a:p>
            <a:pPr indent="-286226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Roboto"/>
              <a:buChar char="●"/>
            </a:pPr>
            <a:r>
              <a:rPr lang="ru" sz="1650">
                <a:latin typeface="Roboto"/>
                <a:ea typeface="Roboto"/>
                <a:cs typeface="Roboto"/>
                <a:sym typeface="Roboto"/>
              </a:rPr>
              <a:t>MAP_NORESERVE</a:t>
            </a:r>
            <a:br>
              <a:rPr lang="ru" sz="1650">
                <a:latin typeface="Roboto"/>
                <a:ea typeface="Roboto"/>
                <a:cs typeface="Roboto"/>
                <a:sym typeface="Roboto"/>
              </a:rPr>
            </a:br>
            <a:r>
              <a:rPr lang="ru" sz="1650">
                <a:latin typeface="Roboto"/>
                <a:ea typeface="Roboto"/>
                <a:cs typeface="Roboto"/>
                <a:sym typeface="Roboto"/>
              </a:rPr>
              <a:t>Указывает, что ядро не должно резервировать swap для этой памяти (для анонимных карт), полезно для больших выделений, когда swap не нужен.</a:t>
            </a:r>
            <a:endParaRPr sz="16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50">
              <a:latin typeface="Roboto"/>
              <a:ea typeface="Roboto"/>
              <a:cs typeface="Roboto"/>
              <a:sym typeface="Roboto"/>
            </a:endParaRPr>
          </a:p>
          <a:p>
            <a:pPr indent="-286226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Roboto"/>
              <a:buChar char="●"/>
            </a:pPr>
            <a:r>
              <a:rPr lang="ru" sz="1650">
                <a:latin typeface="Roboto"/>
                <a:ea typeface="Roboto"/>
                <a:cs typeface="Roboto"/>
                <a:sym typeface="Roboto"/>
              </a:rPr>
              <a:t>MAP_LOCKED</a:t>
            </a:r>
            <a:br>
              <a:rPr lang="ru" sz="1650">
                <a:latin typeface="Roboto"/>
                <a:ea typeface="Roboto"/>
                <a:cs typeface="Roboto"/>
                <a:sym typeface="Roboto"/>
              </a:rPr>
            </a:br>
            <a:r>
              <a:rPr lang="ru" sz="1650">
                <a:latin typeface="Roboto"/>
                <a:ea typeface="Roboto"/>
                <a:cs typeface="Roboto"/>
                <a:sym typeface="Roboto"/>
              </a:rPr>
              <a:t>Страницы отображения фиксируются в RAM и не сваливаются в swap (для real-time приложений).</a:t>
            </a:r>
            <a:endParaRPr sz="16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50">
              <a:latin typeface="Roboto"/>
              <a:ea typeface="Roboto"/>
              <a:cs typeface="Roboto"/>
              <a:sym typeface="Roboto"/>
            </a:endParaRPr>
          </a:p>
          <a:p>
            <a:pPr indent="-286226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Roboto"/>
              <a:buChar char="●"/>
            </a:pPr>
            <a:r>
              <a:rPr lang="ru" sz="1650">
                <a:latin typeface="Roboto"/>
                <a:ea typeface="Roboto"/>
                <a:cs typeface="Roboto"/>
                <a:sym typeface="Roboto"/>
              </a:rPr>
              <a:t>MAP_GROWSDOWN, MAP_GROWSUP</a:t>
            </a:r>
            <a:br>
              <a:rPr lang="ru" sz="1650">
                <a:latin typeface="Roboto"/>
                <a:ea typeface="Roboto"/>
                <a:cs typeface="Roboto"/>
                <a:sym typeface="Roboto"/>
              </a:rPr>
            </a:br>
            <a:r>
              <a:rPr lang="ru" sz="1650">
                <a:latin typeface="Roboto"/>
                <a:ea typeface="Roboto"/>
                <a:cs typeface="Roboto"/>
                <a:sym typeface="Roboto"/>
              </a:rPr>
              <a:t>Используются для реализции стеков и других динамически растущих областей.</a:t>
            </a:r>
            <a:endParaRPr sz="16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336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 1: запись в файл через mmap</a:t>
            </a:r>
            <a:endParaRPr/>
          </a:p>
        </p:txBody>
      </p:sp>
      <p:sp>
        <p:nvSpPr>
          <p:cNvPr id="263" name="Google Shape;263;p34"/>
          <p:cNvSpPr txBox="1"/>
          <p:nvPr>
            <p:ph idx="1" type="body"/>
          </p:nvPr>
        </p:nvSpPr>
        <p:spPr>
          <a:xfrm>
            <a:off x="1297500" y="11913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Имя файла и открытие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Открываем файл для чтения и записи (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O_RDWR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).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Если файл отсутствует, создаём его (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O_CREAT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) с правами доступа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0666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(чтение и запись для всех).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Проверяем успешность открытия (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fd &gt;= 0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).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Если открытие не удалось, выводим ошибку и завершаем программу.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 1: запись в файл через mmap</a:t>
            </a:r>
            <a:endParaRPr/>
          </a:p>
        </p:txBody>
      </p:sp>
      <p:sp>
        <p:nvSpPr>
          <p:cNvPr id="269" name="Google Shape;269;p35"/>
          <p:cNvSpPr txBox="1"/>
          <p:nvPr>
            <p:ph idx="1" type="body"/>
          </p:nvPr>
        </p:nvSpPr>
        <p:spPr>
          <a:xfrm>
            <a:off x="1297500" y="11913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Определение размера файла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Задаём размер области, которую будем отображать (и размер файла!).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 1: запись в файл через mmap</a:t>
            </a:r>
            <a:endParaRPr/>
          </a:p>
        </p:txBody>
      </p:sp>
      <p:sp>
        <p:nvSpPr>
          <p:cNvPr id="275" name="Google Shape;275;p36"/>
          <p:cNvSpPr txBox="1"/>
          <p:nvPr>
            <p:ph idx="1" type="body"/>
          </p:nvPr>
        </p:nvSpPr>
        <p:spPr>
          <a:xfrm>
            <a:off x="1297500" y="11913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Установка размера файла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ftruncate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расширяет или усечёт файл до данного размера.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Это важно! Если этого не сделать, отображение файла длиной больше текущего размера вызовет ошибку SIGBUS при записи.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Если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ftruncate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не удался — закрываем файл и завершаем.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 1: запись в файл через mmap</a:t>
            </a:r>
            <a:endParaRPr/>
          </a:p>
        </p:txBody>
      </p:sp>
      <p:sp>
        <p:nvSpPr>
          <p:cNvPr id="281" name="Google Shape;281;p37"/>
          <p:cNvSpPr txBox="1"/>
          <p:nvPr>
            <p:ph idx="1" type="body"/>
          </p:nvPr>
        </p:nvSpPr>
        <p:spPr>
          <a:xfrm>
            <a:off x="1297500" y="11913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Отображение файла в память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addr = NULL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— ОС сама выберет адрес.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length = filesize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— отображаем весь файл.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prot = PROT_READ | PROT_WRITE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— разрешаем чтение и запись.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flags = MAP_SHARED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— изменения отобразятся в файл сразу.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fd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— дескриптор открытого файла.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offset = 0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— с начала файла.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Если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mmap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вернул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MAP_FAILED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— ошибка, закрываем файл.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 1: запись в файл через mmap</a:t>
            </a:r>
            <a:endParaRPr/>
          </a:p>
        </p:txBody>
      </p:sp>
      <p:sp>
        <p:nvSpPr>
          <p:cNvPr id="287" name="Google Shape;287;p38"/>
          <p:cNvSpPr txBox="1"/>
          <p:nvPr>
            <p:ph idx="1" type="body"/>
          </p:nvPr>
        </p:nvSpPr>
        <p:spPr>
          <a:xfrm>
            <a:off x="1297500" y="11913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Запись данных в отображенную память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Копируем строку в указатель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, то есть непосредственно в отображённую область.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Так как область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MAP_SHARED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и с правами на запись, это изменит содержимое файла.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 1: запись в файл через mmap</a:t>
            </a:r>
            <a:endParaRPr/>
          </a:p>
        </p:txBody>
      </p:sp>
      <p:sp>
        <p:nvSpPr>
          <p:cNvPr id="293" name="Google Shape;293;p39"/>
          <p:cNvSpPr txBox="1"/>
          <p:nvPr>
            <p:ph idx="1" type="body"/>
          </p:nvPr>
        </p:nvSpPr>
        <p:spPr>
          <a:xfrm>
            <a:off x="1297500" y="11913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Синхронизация изменений на диск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msync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гарантирует, что изменения будут сброшены с кэша в файл на диске.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Аргумент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MS_SYNC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— синхронная операция, функция не вернется, пока данные не будут записаны.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Необязательный вызов — ОС сможет сделать это позже, но для контроля полезно.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 1: запись в файл через mmap</a:t>
            </a:r>
            <a:endParaRPr/>
          </a:p>
        </p:txBody>
      </p:sp>
      <p:sp>
        <p:nvSpPr>
          <p:cNvPr id="299" name="Google Shape;299;p40"/>
          <p:cNvSpPr txBox="1"/>
          <p:nvPr>
            <p:ph idx="1" type="body"/>
          </p:nvPr>
        </p:nvSpPr>
        <p:spPr>
          <a:xfrm>
            <a:off x="1297500" y="11913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Освобождение ресурсов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munmap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удаляет отображение из виртуального адресного пространства.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close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закрывает файловый дескриптор.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Итог</a:t>
            </a:r>
            <a:endParaRPr/>
          </a:p>
        </p:txBody>
      </p:sp>
      <p:sp>
        <p:nvSpPr>
          <p:cNvPr id="305" name="Google Shape;305;p41"/>
          <p:cNvSpPr txBox="1"/>
          <p:nvPr>
            <p:ph idx="1" type="body"/>
          </p:nvPr>
        </p:nvSpPr>
        <p:spPr>
          <a:xfrm>
            <a:off x="1297500" y="11913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3871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43"/>
              <a:buFont typeface="Roboto"/>
              <a:buChar char="●"/>
            </a:pPr>
            <a:r>
              <a:rPr lang="ru" sz="1342">
                <a:latin typeface="Roboto"/>
                <a:ea typeface="Roboto"/>
                <a:cs typeface="Roboto"/>
                <a:sym typeface="Roboto"/>
              </a:rPr>
              <a:t>Пример показывает, как создать или открыть файл для записи.</a:t>
            </a:r>
            <a:endParaRPr sz="1342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342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342">
                <a:latin typeface="Roboto"/>
                <a:ea typeface="Roboto"/>
                <a:cs typeface="Roboto"/>
                <a:sym typeface="Roboto"/>
              </a:rPr>
              <a:t>Устанавливает размер файла через </a:t>
            </a:r>
            <a:r>
              <a:rPr lang="ru" sz="1192">
                <a:latin typeface="Courier New"/>
                <a:ea typeface="Courier New"/>
                <a:cs typeface="Courier New"/>
                <a:sym typeface="Courier New"/>
              </a:rPr>
              <a:t>ftruncate</a:t>
            </a:r>
            <a:r>
              <a:rPr lang="ru" sz="1342">
                <a:latin typeface="Roboto"/>
                <a:ea typeface="Roboto"/>
                <a:cs typeface="Roboto"/>
                <a:sym typeface="Roboto"/>
              </a:rPr>
              <a:t> — ключевой шаг для избежания ошибок.</a:t>
            </a:r>
            <a:endParaRPr sz="1342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342">
              <a:latin typeface="Roboto"/>
              <a:ea typeface="Roboto"/>
              <a:cs typeface="Roboto"/>
              <a:sym typeface="Roboto"/>
            </a:endParaRPr>
          </a:p>
          <a:p>
            <a:pPr indent="-313871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43"/>
              <a:buFont typeface="Roboto"/>
              <a:buChar char="●"/>
            </a:pPr>
            <a:r>
              <a:rPr lang="ru" sz="1342">
                <a:latin typeface="Roboto"/>
                <a:ea typeface="Roboto"/>
                <a:cs typeface="Roboto"/>
                <a:sym typeface="Roboto"/>
              </a:rPr>
              <a:t>Отображает файл в память с правами чтения и записи.</a:t>
            </a:r>
            <a:endParaRPr sz="1342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42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Итог</a:t>
            </a:r>
            <a:endParaRPr/>
          </a:p>
        </p:txBody>
      </p:sp>
      <p:sp>
        <p:nvSpPr>
          <p:cNvPr id="311" name="Google Shape;311;p42"/>
          <p:cNvSpPr txBox="1"/>
          <p:nvPr>
            <p:ph idx="1" type="body"/>
          </p:nvPr>
        </p:nvSpPr>
        <p:spPr>
          <a:xfrm>
            <a:off x="1297500" y="11913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Записывает данные напрямую в память, которые тут же отражаются в файле.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С помощью </a:t>
            </a:r>
            <a:r>
              <a:rPr lang="ru">
                <a:latin typeface="Courier New"/>
                <a:ea typeface="Courier New"/>
                <a:cs typeface="Courier New"/>
                <a:sym typeface="Courier New"/>
              </a:rPr>
              <a:t>msync</a:t>
            </a:r>
            <a:r>
              <a:rPr lang="ru">
                <a:latin typeface="Roboto"/>
                <a:ea typeface="Roboto"/>
                <a:cs typeface="Roboto"/>
                <a:sym typeface="Roboto"/>
              </a:rPr>
              <a:t> обеспечивает немедленную фиксацию изменений.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Освобождает память и закрывает файл.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42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shared objects(.so)</a:t>
            </a:r>
            <a:endParaRPr/>
          </a:p>
        </p:txBody>
      </p:sp>
      <p:sp>
        <p:nvSpPr>
          <p:cNvPr id="317" name="Google Shape;317;p43"/>
          <p:cNvSpPr txBox="1"/>
          <p:nvPr>
            <p:ph idx="1" type="body"/>
          </p:nvPr>
        </p:nvSpPr>
        <p:spPr>
          <a:xfrm>
            <a:off x="1297500" y="11913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В Linux динамические библиотеки (shared objects, .so), такие как libc, загружаются в адресное пространство процесса именно через отображение в память посредством mmap. Это значит, что в виртуальной памяти процесса присутствует область, которая соответствует сегментам файла libc на диске.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Мы можем проверить это простыми инструментами пользователя: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cat /proc/[pid]/maps</a:t>
            </a:r>
            <a:endParaRPr sz="1042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shared objects(.so)</a:t>
            </a:r>
            <a:endParaRPr/>
          </a:p>
        </p:txBody>
      </p:sp>
      <p:sp>
        <p:nvSpPr>
          <p:cNvPr id="323" name="Google Shape;323;p44"/>
          <p:cNvSpPr txBox="1"/>
          <p:nvPr>
            <p:ph idx="1" type="body"/>
          </p:nvPr>
        </p:nvSpPr>
        <p:spPr>
          <a:xfrm>
            <a:off x="1297500" y="11913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Вы увидите строки, где будут упоминаться пути к libc.so и отображение этих областей памяти, например: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1100">
                <a:latin typeface="Courier New"/>
                <a:ea typeface="Courier New"/>
                <a:cs typeface="Courier New"/>
                <a:sym typeface="Courier New"/>
              </a:rPr>
              <a:t>7fda965e7000-7fda9660d000 r--p 00000000 00:1a 8126                       /usr/lib/x86_64-linux-gnu/libc.so.6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1100">
                <a:latin typeface="Courier New"/>
                <a:ea typeface="Courier New"/>
                <a:cs typeface="Courier New"/>
                <a:sym typeface="Courier New"/>
              </a:rPr>
              <a:t>7fda9660d000-7fda96762000 r-xp 00026000 00:1a 8126                       /usr/lib/x86_64-linux-gnu/libc.so.6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1100">
                <a:latin typeface="Courier New"/>
                <a:ea typeface="Courier New"/>
                <a:cs typeface="Courier New"/>
                <a:sym typeface="Courier New"/>
              </a:rPr>
              <a:t>7fda96762000-7fda967b5000 r--p 0017b000 00:1a 8126                       /usr/lib/x86_64-linux-gnu/libc.so.6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1100">
                <a:latin typeface="Courier New"/>
                <a:ea typeface="Courier New"/>
                <a:cs typeface="Courier New"/>
                <a:sym typeface="Courier New"/>
              </a:rPr>
              <a:t>7fda967b5000-7fda967b9000 r--p 001ce000 00:1a 8126                       /usr/lib/x86_64-linux-gnu/libc.so.6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1100">
                <a:latin typeface="Courier New"/>
                <a:ea typeface="Courier New"/>
                <a:cs typeface="Courier New"/>
                <a:sym typeface="Courier New"/>
              </a:rPr>
              <a:t>7fda967b9000-7fda967bb000 rw-p 001d2000 00:1a 8126                       /usr/lib/x86_64-linux-gnu/libc.so.6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</a:t>
            </a:r>
            <a:r>
              <a:rPr lang="ru"/>
              <a:t>амечания</a:t>
            </a:r>
            <a:endParaRPr/>
          </a:p>
        </p:txBody>
      </p:sp>
      <p:sp>
        <p:nvSpPr>
          <p:cNvPr id="329" name="Google Shape;329;p45"/>
          <p:cNvSpPr txBox="1"/>
          <p:nvPr>
            <p:ph idx="1" type="body"/>
          </p:nvPr>
        </p:nvSpPr>
        <p:spPr>
          <a:xfrm>
            <a:off x="1297500" y="11913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Загрузка динамических библиотек через mmap обеспечивает разделение кода и данных между процессами.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Сама libc использует mmap и для внутреннего управления памятью (например, для больших выделений в malloc).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Множество системных вызовов и библиотечных функций реализованы как отображения областей файлов в памяти для уменьшения затрат на ввод-вывод.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Итог</a:t>
            </a:r>
            <a:endParaRPr/>
          </a:p>
        </p:txBody>
      </p:sp>
      <p:sp>
        <p:nvSpPr>
          <p:cNvPr id="335" name="Google Shape;335;p46"/>
          <p:cNvSpPr txBox="1"/>
          <p:nvPr>
            <p:ph idx="1" type="body"/>
          </p:nvPr>
        </p:nvSpPr>
        <p:spPr>
          <a:xfrm>
            <a:off x="1297500" y="11913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С помощью просмотра </a:t>
            </a:r>
            <a:r>
              <a:rPr lang="ru" sz="950">
                <a:latin typeface="Courier New"/>
                <a:ea typeface="Courier New"/>
                <a:cs typeface="Courier New"/>
                <a:sym typeface="Courier New"/>
              </a:rPr>
              <a:t>/proc/[pid]/maps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можно легко доказать, что libc при запуске процесса отображается в его память с помощью mmap.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Это наглядно показывает, как ОС эффективно использует отображение памяти для работы с общими библиотеками.</a:t>
            </a:r>
            <a:r>
              <a:rPr lang="ru" sz="105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ld-linux-x86-64.so.2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ld-linux-x86-64.so.2</a:t>
            </a:r>
            <a:endParaRPr/>
          </a:p>
        </p:txBody>
      </p:sp>
      <p:sp>
        <p:nvSpPr>
          <p:cNvPr id="341" name="Google Shape;341;p47"/>
          <p:cNvSpPr txBox="1"/>
          <p:nvPr>
            <p:ph idx="1" type="body"/>
          </p:nvPr>
        </p:nvSpPr>
        <p:spPr>
          <a:xfrm>
            <a:off x="1297500" y="11913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950">
                <a:latin typeface="Courier New"/>
                <a:ea typeface="Courier New"/>
                <a:cs typeface="Courier New"/>
                <a:sym typeface="Courier New"/>
              </a:rPr>
              <a:t>ld-linux-x86-64.so.2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— это динамический компоновщик/загрузчик (dynamic linker/loader) для 64-битных систем Linux. И да, он тоже отображается в память процесса с помощью mmap.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Когда вы запускаете программу, которая использует динамические библиотеки (а почти все современные программы их используют, включая те, что написаны на C и используют libc), ядро Linux не запускает исполняемый файл напрямую. Вместо этого, ядро запускает динамический компоновщик/загрузчик, который затем: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ld-linux-x86-64.so.2</a:t>
            </a:r>
            <a:endParaRPr/>
          </a:p>
        </p:txBody>
      </p:sp>
      <p:sp>
        <p:nvSpPr>
          <p:cNvPr id="347" name="Google Shape;347;p48"/>
          <p:cNvSpPr txBox="1"/>
          <p:nvPr>
            <p:ph idx="1" type="body"/>
          </p:nvPr>
        </p:nvSpPr>
        <p:spPr>
          <a:xfrm>
            <a:off x="1297500" y="11913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4078">
                <a:latin typeface="Roboto"/>
                <a:ea typeface="Roboto"/>
                <a:cs typeface="Roboto"/>
                <a:sym typeface="Roboto"/>
              </a:rPr>
              <a:t>1) </a:t>
            </a:r>
            <a:r>
              <a:rPr lang="ru" sz="4078">
                <a:latin typeface="Roboto"/>
                <a:ea typeface="Roboto"/>
                <a:cs typeface="Roboto"/>
                <a:sym typeface="Roboto"/>
              </a:rPr>
              <a:t>Сам отображается в память процесса (как вы и увидели по </a:t>
            </a:r>
            <a:r>
              <a:rPr lang="ru" sz="3928">
                <a:latin typeface="Courier New"/>
                <a:ea typeface="Courier New"/>
                <a:cs typeface="Courier New"/>
                <a:sym typeface="Courier New"/>
              </a:rPr>
              <a:t>ld-linux-x86-64.so.2</a:t>
            </a:r>
            <a:r>
              <a:rPr lang="ru" sz="4078">
                <a:latin typeface="Roboto"/>
                <a:ea typeface="Roboto"/>
                <a:cs typeface="Roboto"/>
                <a:sym typeface="Roboto"/>
              </a:rPr>
              <a:t> в </a:t>
            </a:r>
            <a:r>
              <a:rPr lang="ru" sz="3928">
                <a:latin typeface="Courier New"/>
                <a:ea typeface="Courier New"/>
                <a:cs typeface="Courier New"/>
                <a:sym typeface="Courier New"/>
              </a:rPr>
              <a:t>/proc/PID/maps</a:t>
            </a:r>
            <a:r>
              <a:rPr lang="ru" sz="4078">
                <a:latin typeface="Roboto"/>
                <a:ea typeface="Roboto"/>
                <a:cs typeface="Roboto"/>
                <a:sym typeface="Roboto"/>
              </a:rPr>
              <a:t>).</a:t>
            </a:r>
            <a:endParaRPr sz="4078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4078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4078">
                <a:latin typeface="Roboto"/>
                <a:ea typeface="Roboto"/>
                <a:cs typeface="Roboto"/>
                <a:sym typeface="Roboto"/>
              </a:rPr>
              <a:t>2) Загружает саму программу (ваш </a:t>
            </a:r>
            <a:r>
              <a:rPr lang="ru" sz="3928">
                <a:latin typeface="Courier New"/>
                <a:ea typeface="Courier New"/>
                <a:cs typeface="Courier New"/>
                <a:sym typeface="Courier New"/>
              </a:rPr>
              <a:t>a.out</a:t>
            </a:r>
            <a:r>
              <a:rPr lang="ru" sz="4078">
                <a:latin typeface="Roboto"/>
                <a:ea typeface="Roboto"/>
                <a:cs typeface="Roboto"/>
                <a:sym typeface="Roboto"/>
              </a:rPr>
              <a:t> или </a:t>
            </a:r>
            <a:r>
              <a:rPr lang="ru" sz="3928">
                <a:latin typeface="Courier New"/>
                <a:ea typeface="Courier New"/>
                <a:cs typeface="Courier New"/>
                <a:sym typeface="Courier New"/>
              </a:rPr>
              <a:t>showpid</a:t>
            </a:r>
            <a:r>
              <a:rPr lang="ru" sz="4078">
                <a:latin typeface="Roboto"/>
                <a:ea typeface="Roboto"/>
                <a:cs typeface="Roboto"/>
                <a:sym typeface="Roboto"/>
              </a:rPr>
              <a:t>).</a:t>
            </a:r>
            <a:endParaRPr sz="4078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4078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4078">
                <a:latin typeface="Roboto"/>
                <a:ea typeface="Roboto"/>
                <a:cs typeface="Roboto"/>
                <a:sym typeface="Roboto"/>
              </a:rPr>
              <a:t>3) Определяет, какие динамические библиотеки (вроде </a:t>
            </a:r>
            <a:r>
              <a:rPr lang="ru" sz="3928">
                <a:latin typeface="Courier New"/>
                <a:ea typeface="Courier New"/>
                <a:cs typeface="Courier New"/>
                <a:sym typeface="Courier New"/>
              </a:rPr>
              <a:t>libc.so.6</a:t>
            </a:r>
            <a:r>
              <a:rPr lang="ru" sz="4078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ru" sz="3928">
                <a:latin typeface="Courier New"/>
                <a:ea typeface="Courier New"/>
                <a:cs typeface="Courier New"/>
                <a:sym typeface="Courier New"/>
              </a:rPr>
              <a:t>libm.so.6</a:t>
            </a:r>
            <a:r>
              <a:rPr lang="ru" sz="4078">
                <a:latin typeface="Roboto"/>
                <a:ea typeface="Roboto"/>
                <a:cs typeface="Roboto"/>
                <a:sym typeface="Roboto"/>
              </a:rPr>
              <a:t> и т.д.) нужны этой программе.</a:t>
            </a:r>
            <a:endParaRPr sz="4078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4078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4078">
                <a:latin typeface="Roboto"/>
                <a:ea typeface="Roboto"/>
                <a:cs typeface="Roboto"/>
                <a:sym typeface="Roboto"/>
              </a:rPr>
              <a:t>4) Отображает эти динамические библиотеки в память процесса (опять же, используя </a:t>
            </a:r>
            <a:r>
              <a:rPr lang="ru" sz="3928">
                <a:latin typeface="Courier New"/>
                <a:ea typeface="Courier New"/>
                <a:cs typeface="Courier New"/>
                <a:sym typeface="Courier New"/>
              </a:rPr>
              <a:t>mmap</a:t>
            </a:r>
            <a:r>
              <a:rPr lang="ru" sz="4078">
                <a:latin typeface="Roboto"/>
                <a:ea typeface="Roboto"/>
                <a:cs typeface="Roboto"/>
                <a:sym typeface="Roboto"/>
              </a:rPr>
              <a:t>).</a:t>
            </a:r>
            <a:endParaRPr sz="4078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4078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4078">
                <a:latin typeface="Roboto"/>
                <a:ea typeface="Roboto"/>
                <a:cs typeface="Roboto"/>
                <a:sym typeface="Roboto"/>
              </a:rPr>
              <a:t>5) Разрешает все символы (функции, переменные), которые программа использует из этих библиотек, связывая вызовы функций программы с фактическими адресами функций в загруженных библиотеках.</a:t>
            </a:r>
            <a:endParaRPr sz="4078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4078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4078">
                <a:latin typeface="Roboto"/>
                <a:ea typeface="Roboto"/>
                <a:cs typeface="Roboto"/>
                <a:sym typeface="Roboto"/>
              </a:rPr>
              <a:t>6) Передаёт управление вашей программе.</a:t>
            </a:r>
            <a:endParaRPr sz="4078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95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Замечания</a:t>
            </a:r>
            <a:endParaRPr/>
          </a:p>
        </p:txBody>
      </p:sp>
      <p:sp>
        <p:nvSpPr>
          <p:cNvPr id="353" name="Google Shape;353;p49"/>
          <p:cNvSpPr txBox="1"/>
          <p:nvPr>
            <p:ph idx="1" type="body"/>
          </p:nvPr>
        </p:nvSpPr>
        <p:spPr>
          <a:xfrm>
            <a:off x="1297500" y="11913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Основа динамической компоновки: Это наглядный пример того, как современная ОС использует отображение памяти для эффективной работы с библиотеками. Вместо того чтобы копировать код библиотек для каждого процесса, он отображается единожды, и все процессы используют одну и ту же физическую копию кода в памяти (read-only сегменты). Это экономит память.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Оптимизация: Ленивая загрузка (lazy loading) страниц библиотек, т.е. страницы загружаются в память только тогда, когда к ним происходит первое обращение. Это ещё больше экономит ресурсы.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Безопасность: Если бы библиотеки каждый раз копировались, это увеличило бы поверхность атаки и замедлило бы систему.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Итог</a:t>
            </a:r>
            <a:endParaRPr/>
          </a:p>
        </p:txBody>
      </p:sp>
      <p:sp>
        <p:nvSpPr>
          <p:cNvPr id="359" name="Google Shape;359;p50"/>
          <p:cNvSpPr txBox="1"/>
          <p:nvPr>
            <p:ph idx="1" type="body"/>
          </p:nvPr>
        </p:nvSpPr>
        <p:spPr>
          <a:xfrm>
            <a:off x="1297500" y="11913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Это отличная деталь, чтобы показать, что mmap используется не только для данных, но и для самого кода, и является фундаментальным механизмом работы системы.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 2: </a:t>
            </a:r>
            <a:r>
              <a:rPr lang="ru"/>
              <a:t>Использование анонимной памяти с mmap (без файла)</a:t>
            </a:r>
            <a:endParaRPr/>
          </a:p>
        </p:txBody>
      </p:sp>
      <p:sp>
        <p:nvSpPr>
          <p:cNvPr id="365" name="Google Shape;365;p51"/>
          <p:cNvSpPr txBox="1"/>
          <p:nvPr>
            <p:ph idx="1" type="body"/>
          </p:nvPr>
        </p:nvSpPr>
        <p:spPr>
          <a:xfrm>
            <a:off x="1297500" y="11913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Задание размера выделяемой области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Обычно размер указывают кратным системной странице (обычно 4Кб).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Операционная система управляет памятью блоками-страницами.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 2: Использование анонимной памяти с mmap (без файла)</a:t>
            </a:r>
            <a:endParaRPr/>
          </a:p>
        </p:txBody>
      </p:sp>
      <p:sp>
        <p:nvSpPr>
          <p:cNvPr id="371" name="Google Shape;371;p52"/>
          <p:cNvSpPr txBox="1"/>
          <p:nvPr>
            <p:ph idx="1" type="body"/>
          </p:nvPr>
        </p:nvSpPr>
        <p:spPr>
          <a:xfrm>
            <a:off x="1297500" y="11913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Вызов mmap с анонимными флагами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addr = NULL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— ОС сама выберет свободный участок памяти.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length = size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— размер выделяемой области.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prot = PROT_READ | PROT_WRITE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— разрешается чтение и запись.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flags = MAP_ANONYMOUS | MAP_PRIVATE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: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MAP_ANONYMOUS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значит — область не связана с файлом.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MAP_PRIVATE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— область приватна, изменения видны только этому процессу.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fd = -1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и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offset = 0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— обязательные параметры при отображении анонимной памяти (без файла).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 2: Использование анонимной памяти с mmap (без файла)</a:t>
            </a:r>
            <a:endParaRPr/>
          </a:p>
        </p:txBody>
      </p:sp>
      <p:sp>
        <p:nvSpPr>
          <p:cNvPr id="377" name="Google Shape;377;p53"/>
          <p:cNvSpPr txBox="1"/>
          <p:nvPr>
            <p:ph idx="1" type="body"/>
          </p:nvPr>
        </p:nvSpPr>
        <p:spPr>
          <a:xfrm>
            <a:off x="1297500" y="11913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Проверка успешности вызова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Если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mmap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вернул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MAP_FAILED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(обычно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(void *) -1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), значит не удалось выделить память.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Выводим ошибку и завершаем.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 2: Использование анонимной памяти с mmap (без файла)</a:t>
            </a:r>
            <a:endParaRPr/>
          </a:p>
        </p:txBody>
      </p:sp>
      <p:sp>
        <p:nvSpPr>
          <p:cNvPr id="383" name="Google Shape;383;p54"/>
          <p:cNvSpPr txBox="1"/>
          <p:nvPr>
            <p:ph idx="1" type="body"/>
          </p:nvPr>
        </p:nvSpPr>
        <p:spPr>
          <a:xfrm>
            <a:off x="1297500" y="11913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Запись данных в анонимную память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area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— указатель на выделенную область.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Записываем строку в память, которую можно потом прочитать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 2: Использование анонимной памяти с mmap (без файла)</a:t>
            </a:r>
            <a:endParaRPr/>
          </a:p>
        </p:txBody>
      </p:sp>
      <p:sp>
        <p:nvSpPr>
          <p:cNvPr id="389" name="Google Shape;389;p55"/>
          <p:cNvSpPr txBox="1"/>
          <p:nvPr>
            <p:ph idx="1" type="body"/>
          </p:nvPr>
        </p:nvSpPr>
        <p:spPr>
          <a:xfrm>
            <a:off x="1297500" y="11913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Чтение и вывод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Читаем ранее записанные данные из памяти.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Выводим их на экран для подтверждения успешного выделения и работы.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 2: Использование анонимной памяти с mmap (без файла)</a:t>
            </a:r>
            <a:endParaRPr/>
          </a:p>
        </p:txBody>
      </p:sp>
      <p:sp>
        <p:nvSpPr>
          <p:cNvPr id="395" name="Google Shape;395;p56"/>
          <p:cNvSpPr txBox="1"/>
          <p:nvPr>
            <p:ph idx="1" type="body"/>
          </p:nvPr>
        </p:nvSpPr>
        <p:spPr>
          <a:xfrm>
            <a:off x="1297500" y="11913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Освобождение памяти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Возвращает выделенную память системе.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Обязательная операция для аккуратного освобождения ресурсов.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 2: Использование анонимной памяти с mmap (без файла)</a:t>
            </a:r>
            <a:endParaRPr/>
          </a:p>
        </p:txBody>
      </p:sp>
      <p:sp>
        <p:nvSpPr>
          <p:cNvPr id="401" name="Google Shape;401;p57"/>
          <p:cNvSpPr txBox="1"/>
          <p:nvPr>
            <p:ph idx="1" type="body"/>
          </p:nvPr>
        </p:nvSpPr>
        <p:spPr>
          <a:xfrm>
            <a:off x="1297500" y="11913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700">
                <a:latin typeface="Arial"/>
                <a:ea typeface="Arial"/>
                <a:cs typeface="Arial"/>
                <a:sym typeface="Arial"/>
              </a:rPr>
              <a:t>Что происходит внутри?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Анонимная память резервируется, но физическая память выделяется лениво при первом обращении.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Анонимная mmap часто используется для выделения больших блоков памяти, например, в реализациях malloc.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Эта память не привязана к файлу, и она исчезает после завершения процесса.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MAP_PRIVATE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гарантирует, что изменения не "пропадут" в другие процессы, так как область приватная.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Основные особенности выделения памяти с помощью анонимного mmap (то есть без связки с файлом):</a:t>
            </a:r>
            <a:endParaRPr/>
          </a:p>
        </p:txBody>
      </p:sp>
      <p:sp>
        <p:nvSpPr>
          <p:cNvPr id="407" name="Google Shape;407;p58"/>
          <p:cNvSpPr txBox="1"/>
          <p:nvPr>
            <p:ph idx="1" type="body"/>
          </p:nvPr>
        </p:nvSpPr>
        <p:spPr>
          <a:xfrm>
            <a:off x="1297500" y="158700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5017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Отсутствие backing-файла</a:t>
            </a:r>
            <a:br>
              <a:rPr lang="ru" sz="5017">
                <a:latin typeface="Roboto"/>
                <a:ea typeface="Roboto"/>
                <a:cs typeface="Roboto"/>
                <a:sym typeface="Roboto"/>
              </a:rPr>
            </a:br>
            <a:endParaRPr sz="5017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5017">
                <a:latin typeface="Roboto"/>
                <a:ea typeface="Roboto"/>
                <a:cs typeface="Roboto"/>
                <a:sym typeface="Roboto"/>
              </a:rPr>
              <a:t>Анонимная память не связана с каким-либо файлом на диске. Она представляет собой чисто виртуальную область памяти, выделенную процессу ядром ОС.</a:t>
            </a:r>
            <a:endParaRPr sz="5017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5017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5017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Инициализация нулями</a:t>
            </a:r>
            <a:br>
              <a:rPr lang="ru" sz="5017">
                <a:latin typeface="Roboto"/>
                <a:ea typeface="Roboto"/>
                <a:cs typeface="Roboto"/>
                <a:sym typeface="Roboto"/>
              </a:rPr>
            </a:br>
            <a:endParaRPr sz="5017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5017">
                <a:latin typeface="Roboto"/>
                <a:ea typeface="Roboto"/>
                <a:cs typeface="Roboto"/>
                <a:sym typeface="Roboto"/>
              </a:rPr>
              <a:t>Все страницы анонимной памяти изначально заполнены нулями. Это обеспечивает безопасность, так как процесс не получает «остатки» памяти от других процессов.</a:t>
            </a:r>
            <a:endParaRPr sz="5017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5017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5017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Lazy allocation (ленивая аллокация)</a:t>
            </a:r>
            <a:endParaRPr sz="5017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5017">
                <a:latin typeface="Roboto"/>
                <a:ea typeface="Roboto"/>
                <a:cs typeface="Roboto"/>
                <a:sym typeface="Roboto"/>
              </a:rPr>
              <a:t>Физическая память под анонимными страницами не выделяется сразу при вызове </a:t>
            </a:r>
            <a:r>
              <a:rPr lang="ru" sz="4867">
                <a:latin typeface="Courier New"/>
                <a:ea typeface="Courier New"/>
                <a:cs typeface="Courier New"/>
                <a:sym typeface="Courier New"/>
              </a:rPr>
              <a:t>mmap</a:t>
            </a:r>
            <a:r>
              <a:rPr lang="ru" sz="5017">
                <a:latin typeface="Roboto"/>
                <a:ea typeface="Roboto"/>
                <a:cs typeface="Roboto"/>
                <a:sym typeface="Roboto"/>
              </a:rPr>
              <a:t>. Фактическая физическая память выделяется при первом обращении к странице (то есть при попытке записи или чтения).</a:t>
            </a:r>
            <a:endParaRPr sz="5017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5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Основные особенности выделения памяти с помощью анонимного mmap (то есть без связки с файлом):</a:t>
            </a:r>
            <a:endParaRPr/>
          </a:p>
        </p:txBody>
      </p:sp>
      <p:sp>
        <p:nvSpPr>
          <p:cNvPr id="413" name="Google Shape;413;p59"/>
          <p:cNvSpPr txBox="1"/>
          <p:nvPr>
            <p:ph idx="1" type="body"/>
          </p:nvPr>
        </p:nvSpPr>
        <p:spPr>
          <a:xfrm>
            <a:off x="1297500" y="158700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4887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Область приватна по умолчанию</a:t>
            </a:r>
            <a:endParaRPr sz="4887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br>
              <a:rPr lang="ru" sz="4887">
                <a:latin typeface="Roboto"/>
                <a:ea typeface="Roboto"/>
                <a:cs typeface="Roboto"/>
                <a:sym typeface="Roboto"/>
              </a:rPr>
            </a:br>
            <a:r>
              <a:rPr lang="ru" sz="4887">
                <a:latin typeface="Roboto"/>
                <a:ea typeface="Roboto"/>
                <a:cs typeface="Roboto"/>
                <a:sym typeface="Roboto"/>
              </a:rPr>
              <a:t>По умолчанию анонимная память создаётся с флагом </a:t>
            </a:r>
            <a:r>
              <a:rPr lang="ru" sz="4737">
                <a:latin typeface="Courier New"/>
                <a:ea typeface="Courier New"/>
                <a:cs typeface="Courier New"/>
                <a:sym typeface="Courier New"/>
              </a:rPr>
              <a:t>MAP_PRIVATE</a:t>
            </a:r>
            <a:r>
              <a:rPr lang="ru" sz="4887">
                <a:latin typeface="Roboto"/>
                <a:ea typeface="Roboto"/>
                <a:cs typeface="Roboto"/>
                <a:sym typeface="Roboto"/>
              </a:rPr>
              <a:t> — изменения в этой области видны только текущему процессу и не влияют на другие процессы.</a:t>
            </a:r>
            <a:endParaRPr sz="4887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4887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4887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Может использоваться с флагом MAP_SHARED для разделяемой анонимной памяти</a:t>
            </a:r>
            <a:br>
              <a:rPr lang="ru" sz="4887">
                <a:latin typeface="Roboto"/>
                <a:ea typeface="Roboto"/>
                <a:cs typeface="Roboto"/>
                <a:sym typeface="Roboto"/>
              </a:rPr>
            </a:br>
            <a:endParaRPr sz="4887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4887">
                <a:latin typeface="Roboto"/>
                <a:ea typeface="Roboto"/>
                <a:cs typeface="Roboto"/>
                <a:sym typeface="Roboto"/>
              </a:rPr>
              <a:t>В этом случае анонимная область видна разным процессам (например, после fork), что удобно для межпроцессного взаимодействия.</a:t>
            </a:r>
            <a:endParaRPr sz="4887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4486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4486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Управление через виртуальную память</a:t>
            </a:r>
            <a:br>
              <a:rPr lang="ru" sz="4486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4486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4486">
                <a:latin typeface="Roboto"/>
                <a:ea typeface="Roboto"/>
                <a:cs typeface="Roboto"/>
                <a:sym typeface="Roboto"/>
              </a:rPr>
              <a:t>Анонимная память удобна для резервирования большого адресного пространства без немедленного расхода физической памяти.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6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Основные особенности выделения памяти с помощью анонимного mmap (то есть без связки с файлом):</a:t>
            </a:r>
            <a:endParaRPr/>
          </a:p>
        </p:txBody>
      </p:sp>
      <p:sp>
        <p:nvSpPr>
          <p:cNvPr id="419" name="Google Shape;419;p60"/>
          <p:cNvSpPr txBox="1"/>
          <p:nvPr>
            <p:ph idx="1" type="body"/>
          </p:nvPr>
        </p:nvSpPr>
        <p:spPr>
          <a:xfrm>
            <a:off x="1297500" y="158700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481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Не сохраняется на диск</a:t>
            </a:r>
            <a:endParaRPr sz="481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br>
              <a:rPr lang="ru" sz="4811">
                <a:latin typeface="Roboto"/>
                <a:ea typeface="Roboto"/>
                <a:cs typeface="Roboto"/>
                <a:sym typeface="Roboto"/>
              </a:rPr>
            </a:br>
            <a:r>
              <a:rPr lang="ru" sz="4811">
                <a:latin typeface="Roboto"/>
                <a:ea typeface="Roboto"/>
                <a:cs typeface="Roboto"/>
                <a:sym typeface="Roboto"/>
              </a:rPr>
              <a:t>В отличие от отображения файлов, анонимная память не имеет сохранения при завершении процесса — данные в ней временные и исчезают вместе с процессом.</a:t>
            </a:r>
            <a:endParaRPr sz="481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481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4811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Overcommit</a:t>
            </a:r>
            <a:endParaRPr sz="481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br>
              <a:rPr lang="ru" sz="4811">
                <a:latin typeface="Roboto"/>
                <a:ea typeface="Roboto"/>
                <a:cs typeface="Roboto"/>
                <a:sym typeface="Roboto"/>
              </a:rPr>
            </a:br>
            <a:r>
              <a:rPr lang="ru" sz="4811">
                <a:latin typeface="Roboto"/>
                <a:ea typeface="Roboto"/>
                <a:cs typeface="Roboto"/>
                <a:sym typeface="Roboto"/>
              </a:rPr>
              <a:t>ОС может разрешать выделение анонимной памяти в объёмах, превосходящих реальный объём доступной физической памяти (за счёт swap и виртуальной памяти). Но физическая память выделяется только при использовании.</a:t>
            </a:r>
            <a:endParaRPr sz="481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4887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6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Итог</a:t>
            </a:r>
            <a:endParaRPr/>
          </a:p>
        </p:txBody>
      </p:sp>
      <p:sp>
        <p:nvSpPr>
          <p:cNvPr id="425" name="Google Shape;425;p61"/>
          <p:cNvSpPr txBox="1"/>
          <p:nvPr>
            <p:ph idx="1" type="body"/>
          </p:nvPr>
        </p:nvSpPr>
        <p:spPr>
          <a:xfrm>
            <a:off x="1297500" y="158700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Эти особенности делают анонимный mmap мощным и гибким инструментом выделения памяти в Linux, широко используемым в системном и прикладном программировании для областей памяти, которые не должны быть связаны с файлами.</a:t>
            </a:r>
            <a:endParaRPr sz="491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4887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6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 3: </a:t>
            </a:r>
            <a:r>
              <a:rPr lang="ru"/>
              <a:t>Совместное использование отображенной памяти между процессами (IPC)</a:t>
            </a:r>
            <a:endParaRPr/>
          </a:p>
        </p:txBody>
      </p:sp>
      <p:sp>
        <p:nvSpPr>
          <p:cNvPr id="431" name="Google Shape;431;p62"/>
          <p:cNvSpPr txBox="1"/>
          <p:nvPr>
            <p:ph idx="1" type="body"/>
          </p:nvPr>
        </p:nvSpPr>
        <p:spPr>
          <a:xfrm>
            <a:off x="1297500" y="158700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1317">
                <a:latin typeface="Roboto"/>
                <a:ea typeface="Roboto"/>
                <a:cs typeface="Roboto"/>
                <a:sym typeface="Roboto"/>
              </a:rPr>
              <a:t>Определение размера памяти</a:t>
            </a:r>
            <a:endParaRPr sz="1317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317">
              <a:latin typeface="Roboto"/>
              <a:ea typeface="Roboto"/>
              <a:cs typeface="Roboto"/>
              <a:sym typeface="Roboto"/>
            </a:endParaRPr>
          </a:p>
          <a:p>
            <a:pPr indent="-299720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Roboto"/>
              <a:buChar char="●"/>
            </a:pPr>
            <a:r>
              <a:rPr lang="ru" sz="1317">
                <a:latin typeface="Roboto"/>
                <a:ea typeface="Roboto"/>
                <a:cs typeface="Roboto"/>
                <a:sym typeface="Roboto"/>
              </a:rPr>
              <a:t>Размер области — одна страница.</a:t>
            </a:r>
            <a:endParaRPr sz="1317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4887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6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 3: Совместное использование отображенной памяти между процессами (IPC)</a:t>
            </a:r>
            <a:endParaRPr/>
          </a:p>
        </p:txBody>
      </p:sp>
      <p:sp>
        <p:nvSpPr>
          <p:cNvPr id="437" name="Google Shape;437;p63"/>
          <p:cNvSpPr txBox="1"/>
          <p:nvPr>
            <p:ph idx="1" type="body"/>
          </p:nvPr>
        </p:nvSpPr>
        <p:spPr>
          <a:xfrm>
            <a:off x="1297500" y="158700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1867">
                <a:latin typeface="Roboto"/>
                <a:ea typeface="Roboto"/>
                <a:cs typeface="Roboto"/>
                <a:sym typeface="Roboto"/>
              </a:rPr>
              <a:t>Отображение анонимной разделяемой памяти</a:t>
            </a:r>
            <a:endParaRPr sz="1867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985">
              <a:latin typeface="Roboto"/>
              <a:ea typeface="Roboto"/>
              <a:cs typeface="Roboto"/>
              <a:sym typeface="Roboto"/>
            </a:endParaRPr>
          </a:p>
          <a:p>
            <a:pPr indent="-276225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ct val="69862"/>
              <a:buFont typeface="Roboto"/>
              <a:buChar char="●"/>
            </a:pPr>
            <a:r>
              <a:rPr lang="ru" sz="1717"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ru" sz="1867">
                <a:latin typeface="Roboto"/>
                <a:ea typeface="Roboto"/>
                <a:cs typeface="Roboto"/>
                <a:sym typeface="Roboto"/>
              </a:rPr>
              <a:t> — адрес выбирает ОС.</a:t>
            </a:r>
            <a:endParaRPr sz="1867">
              <a:latin typeface="Roboto"/>
              <a:ea typeface="Roboto"/>
              <a:cs typeface="Roboto"/>
              <a:sym typeface="Roboto"/>
            </a:endParaRPr>
          </a:p>
          <a:p>
            <a:pPr indent="-27622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69862"/>
              <a:buFont typeface="Roboto"/>
              <a:buChar char="●"/>
            </a:pPr>
            <a:r>
              <a:rPr lang="ru" sz="1717">
                <a:latin typeface="Courier New"/>
                <a:ea typeface="Courier New"/>
                <a:cs typeface="Courier New"/>
                <a:sym typeface="Courier New"/>
              </a:rPr>
              <a:t>PROT_READ | PROT_WRITE</a:t>
            </a:r>
            <a:r>
              <a:rPr lang="ru" sz="1867">
                <a:latin typeface="Roboto"/>
                <a:ea typeface="Roboto"/>
                <a:cs typeface="Roboto"/>
                <a:sym typeface="Roboto"/>
              </a:rPr>
              <a:t> — разрешаем читать и писать.</a:t>
            </a:r>
            <a:endParaRPr sz="1867">
              <a:latin typeface="Roboto"/>
              <a:ea typeface="Roboto"/>
              <a:cs typeface="Roboto"/>
              <a:sym typeface="Roboto"/>
            </a:endParaRPr>
          </a:p>
          <a:p>
            <a:pPr indent="-27622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69862"/>
              <a:buFont typeface="Roboto"/>
              <a:buChar char="●"/>
            </a:pPr>
            <a:r>
              <a:rPr lang="ru" sz="1717">
                <a:latin typeface="Courier New"/>
                <a:ea typeface="Courier New"/>
                <a:cs typeface="Courier New"/>
                <a:sym typeface="Courier New"/>
              </a:rPr>
              <a:t>MAP_SHARED</a:t>
            </a:r>
            <a:r>
              <a:rPr lang="ru" sz="1867">
                <a:latin typeface="Roboto"/>
                <a:ea typeface="Roboto"/>
                <a:cs typeface="Roboto"/>
                <a:sym typeface="Roboto"/>
              </a:rPr>
              <a:t> — изменения будут видны всем процессам, которые отображают эту область.</a:t>
            </a:r>
            <a:endParaRPr sz="1867">
              <a:latin typeface="Roboto"/>
              <a:ea typeface="Roboto"/>
              <a:cs typeface="Roboto"/>
              <a:sym typeface="Roboto"/>
            </a:endParaRPr>
          </a:p>
          <a:p>
            <a:pPr indent="-27622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69862"/>
              <a:buFont typeface="Roboto"/>
              <a:buChar char="●"/>
            </a:pPr>
            <a:r>
              <a:rPr lang="ru" sz="1717">
                <a:latin typeface="Courier New"/>
                <a:ea typeface="Courier New"/>
                <a:cs typeface="Courier New"/>
                <a:sym typeface="Courier New"/>
              </a:rPr>
              <a:t>MAP_ANONYMOUS</a:t>
            </a:r>
            <a:r>
              <a:rPr lang="ru" sz="1867">
                <a:latin typeface="Roboto"/>
                <a:ea typeface="Roboto"/>
                <a:cs typeface="Roboto"/>
                <a:sym typeface="Roboto"/>
              </a:rPr>
              <a:t> — область без файла, анонимная.</a:t>
            </a:r>
            <a:endParaRPr sz="1867">
              <a:latin typeface="Roboto"/>
              <a:ea typeface="Roboto"/>
              <a:cs typeface="Roboto"/>
              <a:sym typeface="Roboto"/>
            </a:endParaRPr>
          </a:p>
          <a:p>
            <a:pPr indent="-27622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69862"/>
              <a:buFont typeface="Roboto"/>
              <a:buChar char="●"/>
            </a:pPr>
            <a:r>
              <a:rPr lang="ru" sz="1717">
                <a:latin typeface="Courier New"/>
                <a:ea typeface="Courier New"/>
                <a:cs typeface="Courier New"/>
                <a:sym typeface="Courier New"/>
              </a:rPr>
              <a:t>fd = -1</a:t>
            </a:r>
            <a:r>
              <a:rPr lang="ru" sz="1867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ru" sz="1717">
                <a:latin typeface="Courier New"/>
                <a:ea typeface="Courier New"/>
                <a:cs typeface="Courier New"/>
                <a:sym typeface="Courier New"/>
              </a:rPr>
              <a:t>offset = 0</a:t>
            </a:r>
            <a:r>
              <a:rPr lang="ru" sz="1867">
                <a:latin typeface="Roboto"/>
                <a:ea typeface="Roboto"/>
                <a:cs typeface="Roboto"/>
                <a:sym typeface="Roboto"/>
              </a:rPr>
              <a:t> — обязательны для анонимных mmap.</a:t>
            </a:r>
            <a:endParaRPr sz="1867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317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6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 3: Совместное использование отображенной памяти между процессами (IPC)</a:t>
            </a:r>
            <a:endParaRPr/>
          </a:p>
        </p:txBody>
      </p:sp>
      <p:sp>
        <p:nvSpPr>
          <p:cNvPr id="443" name="Google Shape;443;p64"/>
          <p:cNvSpPr txBox="1"/>
          <p:nvPr>
            <p:ph idx="1" type="body"/>
          </p:nvPr>
        </p:nvSpPr>
        <p:spPr>
          <a:xfrm>
            <a:off x="1297500" y="158700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Создание копии процесса с помощью fork()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Создаётся дочерний процесс.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После fork родитель и потомок имеют отдельное виртуальное адресное пространство, но благодаря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MAP_SHARED | MAP_ANONYMOUS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данная область памяти общая.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867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6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 3: Совместное использование отображенной памяти между процессами (IPC)</a:t>
            </a:r>
            <a:endParaRPr/>
          </a:p>
        </p:txBody>
      </p:sp>
      <p:sp>
        <p:nvSpPr>
          <p:cNvPr id="449" name="Google Shape;449;p65"/>
          <p:cNvSpPr txBox="1"/>
          <p:nvPr>
            <p:ph idx="1" type="body"/>
          </p:nvPr>
        </p:nvSpPr>
        <p:spPr>
          <a:xfrm>
            <a:off x="1297500" y="158700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Дочерний процесс пишет в общую память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Дочерний процесс записывает строку в разделяемую область.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Затем освобождает отображение и завершает работу.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867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 3: Совместное использование отображенной памяти между процессами (IPC)</a:t>
            </a:r>
            <a:endParaRPr/>
          </a:p>
        </p:txBody>
      </p:sp>
      <p:sp>
        <p:nvSpPr>
          <p:cNvPr id="455" name="Google Shape;455;p66"/>
          <p:cNvSpPr txBox="1"/>
          <p:nvPr>
            <p:ph idx="1" type="body"/>
          </p:nvPr>
        </p:nvSpPr>
        <p:spPr>
          <a:xfrm>
            <a:off x="1297500" y="158700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Родительский процесс ждет завершения ребенка и читает сообщение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Родитель ждёт сигнал завершения дочернего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wait(NULL)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После чего читает из той же области памяти.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Выводит сообщение, записанное дочерним процессом.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Освобождает отображение.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867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6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Итог</a:t>
            </a:r>
            <a:endParaRPr/>
          </a:p>
        </p:txBody>
      </p:sp>
      <p:sp>
        <p:nvSpPr>
          <p:cNvPr id="461" name="Google Shape;461;p67"/>
          <p:cNvSpPr txBox="1"/>
          <p:nvPr>
            <p:ph idx="1" type="body"/>
          </p:nvPr>
        </p:nvSpPr>
        <p:spPr>
          <a:xfrm>
            <a:off x="1297500" y="158700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Использование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MAP_SHARED | MAP_ANONYMOUS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с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mmap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создаёт область памяти, общую для родительского и дочернего процессов.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Благодаря этому процессы могут напрямую обмениваться данными без дополнительных IPC механизмов (как пайпы, сокеты или файлы).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Этот метод — быстрый и эффективный способ организации межпроцессного взаимодействия в Linux.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Для синхронизации доступа к общей памяти стоит применять семафоры, мьютексы или другие механизмы, но в простом примере достаточно последовательного чтения/записи с ожиданием.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867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 4: PROT_EXEC</a:t>
            </a:r>
            <a:endParaRPr/>
          </a:p>
        </p:txBody>
      </p:sp>
      <p:sp>
        <p:nvSpPr>
          <p:cNvPr id="467" name="Google Shape;467;p68"/>
          <p:cNvSpPr txBox="1"/>
          <p:nvPr>
            <p:ph idx="1" type="body"/>
          </p:nvPr>
        </p:nvSpPr>
        <p:spPr>
          <a:xfrm>
            <a:off x="1297500" y="158700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ru">
                <a:latin typeface="Arial"/>
                <a:ea typeface="Arial"/>
                <a:cs typeface="Arial"/>
                <a:sym typeface="Arial"/>
              </a:rPr>
              <a:t>объявление кода</a:t>
            </a:r>
            <a:endParaRPr sz="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В массиве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code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содержится "сырая" последовательность байтов — машинный код на x86_64, включая встроенную строку.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867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6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 4: PROT_EXEC</a:t>
            </a:r>
            <a:endParaRPr/>
          </a:p>
        </p:txBody>
      </p:sp>
      <p:sp>
        <p:nvSpPr>
          <p:cNvPr id="473" name="Google Shape;473;p69"/>
          <p:cNvSpPr txBox="1"/>
          <p:nvPr>
            <p:ph idx="1" type="body"/>
          </p:nvPr>
        </p:nvSpPr>
        <p:spPr>
          <a:xfrm>
            <a:off x="1297500" y="1206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ru">
                <a:latin typeface="Arial"/>
                <a:ea typeface="Arial"/>
                <a:cs typeface="Arial"/>
                <a:sym typeface="Arial"/>
              </a:rPr>
              <a:t>Машинный код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867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74" name="Google Shape;474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1685948"/>
            <a:ext cx="5738661" cy="274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7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 4: PROT_EXEC</a:t>
            </a:r>
            <a:endParaRPr/>
          </a:p>
        </p:txBody>
      </p:sp>
      <p:sp>
        <p:nvSpPr>
          <p:cNvPr id="480" name="Google Shape;480;p70"/>
          <p:cNvSpPr txBox="1"/>
          <p:nvPr>
            <p:ph idx="1" type="body"/>
          </p:nvPr>
        </p:nvSpPr>
        <p:spPr>
          <a:xfrm>
            <a:off x="1297500" y="1206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mov rax, 1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— устанавливаем номер системного вызова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write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mov rdi, 1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— дескриптор файла для stdout (1).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lea rsi, [rip+0x15]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— загружаем адрес строки, которая следует за инструкциями;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0x15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— смещение от следующей инструкции.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mov rdx, 13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— длина строки.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syscall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— вызываем системный вызов.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Далее аналогично для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exit(0)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867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7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 4: PROT_EXEC</a:t>
            </a:r>
            <a:endParaRPr/>
          </a:p>
        </p:txBody>
      </p:sp>
      <p:sp>
        <p:nvSpPr>
          <p:cNvPr id="486" name="Google Shape;486;p71"/>
          <p:cNvSpPr txBox="1"/>
          <p:nvPr>
            <p:ph idx="1" type="body"/>
          </p:nvPr>
        </p:nvSpPr>
        <p:spPr>
          <a:xfrm>
            <a:off x="1297500" y="1206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Выделяем анонимную память.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9085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Выделяем анонимную память с правами чтения, записи и исполнения.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4285"/>
              <a:buFont typeface="Roboto"/>
              <a:buChar char="●"/>
            </a:pP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— ОС сама выберет адрес.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4285"/>
              <a:buFont typeface="Roboto"/>
              <a:buChar char="●"/>
            </a:pP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MAP_PRIVATE | MAP_ANONYMOUS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— область без файла и приватна (исключительно для текущего процесса).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При ошибке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mmap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возвращает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MAP_FAILED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Копируем машинный код и строку в выделенную память.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867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7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 4: PROT_EXEC</a:t>
            </a:r>
            <a:endParaRPr/>
          </a:p>
        </p:txBody>
      </p:sp>
      <p:sp>
        <p:nvSpPr>
          <p:cNvPr id="492" name="Google Shape;492;p72"/>
          <p:cNvSpPr txBox="1"/>
          <p:nvPr>
            <p:ph idx="1" type="body"/>
          </p:nvPr>
        </p:nvSpPr>
        <p:spPr>
          <a:xfrm>
            <a:off x="1297500" y="1206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Вызываем код из памяти.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Приводим адрес начала области к функции без параметров и вызываем.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Функция выполнит код из памяти: напечатает строку и вызовет exit.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867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7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Итог лекции</a:t>
            </a:r>
            <a:endParaRPr/>
          </a:p>
        </p:txBody>
      </p:sp>
      <p:sp>
        <p:nvSpPr>
          <p:cNvPr id="498" name="Google Shape;498;p73"/>
          <p:cNvSpPr txBox="1"/>
          <p:nvPr>
            <p:ph idx="1" type="body"/>
          </p:nvPr>
        </p:nvSpPr>
        <p:spPr>
          <a:xfrm>
            <a:off x="1297500" y="119892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mmap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 — универсальный инструмент как для работы с файлами на уровне байт, так и для управления памятью процессов.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Отображаемые файлы и библиотеки (например, libc и динамический загрузчик) в Linux загружаются в память именно через 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mmap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, что существенно оптимизирует использование ресурсов.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Совместная (shared) анонимная память — это простой и эффективный способ межпроцессного взаимодействия.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Правильное управление правами доступа (</a:t>
            </a:r>
            <a:r>
              <a:rPr lang="ru" sz="1050">
                <a:latin typeface="Courier New"/>
                <a:ea typeface="Courier New"/>
                <a:cs typeface="Courier New"/>
                <a:sym typeface="Courier New"/>
              </a:rPr>
              <a:t>PROT_*</a:t>
            </a:r>
            <a:r>
              <a:rPr lang="ru" sz="1200">
                <a:latin typeface="Roboto"/>
                <a:ea typeface="Roboto"/>
                <a:cs typeface="Roboto"/>
                <a:sym typeface="Roboto"/>
              </a:rPr>
              <a:t>) жизненно важно для корректной и безопасной работы с исполняемым кодом в памяти.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Динамическая генерация и исполнение машинного кода требует точного понимания архитектуры процессора и формата инструкций. :)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